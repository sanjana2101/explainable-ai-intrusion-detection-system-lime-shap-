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71" r:id="rId10"/>
    <p:sldId id="272" r:id="rId11"/>
    <p:sldId id="273" r:id="rId12"/>
    <p:sldId id="274" r:id="rId13"/>
    <p:sldId id="275" r:id="rId14"/>
    <p:sldId id="276" r:id="rId15"/>
    <p:sldId id="266" r:id="rId16"/>
    <p:sldId id="267" r:id="rId17"/>
    <p:sldId id="268" r:id="rId18"/>
    <p:sldId id="269" r:id="rId19"/>
    <p:sldId id="270" r:id="rId20"/>
  </p:sldIdLst>
  <p:sldSz cx="12192000" cy="6858000"/>
  <p:notesSz cx="6858000" cy="9144000"/>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7"/>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4F1D50-B6A2-4019-9617-B0BA6E91FF9B}" type="datetimeFigureOut">
              <a:rPr lang="en-IN" smtClean="0"/>
              <a:pPr/>
              <a:t>31-01-2026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760D06-E71C-4CF6-B4AC-B8B6AF0BE466}" type="slidenum">
              <a:rPr lang="en-IN" smtClean="0"/>
              <a:pPr/>
              <a:t>‹#›</a:t>
            </a:fld>
            <a:endParaRPr lang="en-IN"/>
          </a:p>
        </p:txBody>
      </p:sp>
    </p:spTree>
    <p:extLst>
      <p:ext uri="{BB962C8B-B14F-4D97-AF65-F5344CB8AC3E}">
        <p14:creationId xmlns:p14="http://schemas.microsoft.com/office/powerpoint/2010/main" val="17198493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32439-1400-4871-A1E8-C7474D4478E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93264D-B01A-4290-A82E-7727F4A131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B8C1F4C-564C-456D-BF72-8037A3716569}"/>
              </a:ext>
            </a:extLst>
          </p:cNvPr>
          <p:cNvSpPr>
            <a:spLocks noGrp="1"/>
          </p:cNvSpPr>
          <p:nvPr>
            <p:ph type="dt" sz="half" idx="10"/>
          </p:nvPr>
        </p:nvSpPr>
        <p:spPr/>
        <p:txBody>
          <a:bodyPr/>
          <a:lstStyle/>
          <a:p>
            <a:fld id="{37BC200F-3AD5-488B-A90C-E22EC162B81D}" type="datetime1">
              <a:rPr lang="en-IN" smtClean="0"/>
              <a:pPr/>
              <a:t>31-01-2026</a:t>
            </a:fld>
            <a:endParaRPr lang="en-IN"/>
          </a:p>
        </p:txBody>
      </p:sp>
      <p:sp>
        <p:nvSpPr>
          <p:cNvPr id="5" name="Footer Placeholder 4">
            <a:extLst>
              <a:ext uri="{FF2B5EF4-FFF2-40B4-BE49-F238E27FC236}">
                <a16:creationId xmlns:a16="http://schemas.microsoft.com/office/drawing/2014/main" id="{709C422B-5E07-4115-9932-3FA2E7B081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20577A-0E47-4E38-A660-FC0D76D7267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00117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1FC8F7-1408-4E03-9E4D-89F36571F3D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CECEAC2-EDD9-4A1B-8E30-3AB3CE54F25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494BC-2B5F-4933-96F3-C02C7484979E}"/>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Footer Placeholder 4">
            <a:extLst>
              <a:ext uri="{FF2B5EF4-FFF2-40B4-BE49-F238E27FC236}">
                <a16:creationId xmlns:a16="http://schemas.microsoft.com/office/drawing/2014/main" id="{F6E7B0BB-7BCF-4959-B22F-283F7527CC9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257FB52-389D-429A-827B-5EA4CA2499C7}"/>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7894973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59E0A-F353-45A7-9D3D-4197FDEB58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D58B4B3-9A58-47AF-892D-7B145EFA2C1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3ACD6A9-D5B1-4AEF-BE15-B459414C082E}"/>
              </a:ext>
            </a:extLst>
          </p:cNvPr>
          <p:cNvSpPr>
            <a:spLocks noGrp="1"/>
          </p:cNvSpPr>
          <p:nvPr>
            <p:ph type="dt" sz="half" idx="10"/>
          </p:nvPr>
        </p:nvSpPr>
        <p:spPr/>
        <p:txBody>
          <a:bodyPr/>
          <a:lstStyle/>
          <a:p>
            <a:fld id="{A342B590-2B55-4604-B193-5B6D0EBB3818}" type="datetime1">
              <a:rPr lang="en-IN" smtClean="0"/>
              <a:pPr/>
              <a:t>31-01-2026</a:t>
            </a:fld>
            <a:endParaRPr lang="en-IN"/>
          </a:p>
        </p:txBody>
      </p:sp>
      <p:sp>
        <p:nvSpPr>
          <p:cNvPr id="5" name="Footer Placeholder 4">
            <a:extLst>
              <a:ext uri="{FF2B5EF4-FFF2-40B4-BE49-F238E27FC236}">
                <a16:creationId xmlns:a16="http://schemas.microsoft.com/office/drawing/2014/main" id="{2B94FE73-2575-46E0-9292-2323027342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19F333C-0E24-431D-8BEA-6EC3E032DC2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1050258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E0DEF8-2B7E-4274-9CCB-70BD370F6D9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9C7C84-E9A9-4607-92DC-EFE2B8EB71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991AD39-BC46-468D-AD9D-6C9C7A244F1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86748D0-6615-4EB1-8559-162BC9E6834F}"/>
              </a:ext>
            </a:extLst>
          </p:cNvPr>
          <p:cNvSpPr>
            <a:spLocks noGrp="1"/>
          </p:cNvSpPr>
          <p:nvPr>
            <p:ph type="dt" sz="half" idx="10"/>
          </p:nvPr>
        </p:nvSpPr>
        <p:spPr/>
        <p:txBody>
          <a:bodyPr/>
          <a:lstStyle/>
          <a:p>
            <a:fld id="{E455046D-FD36-421D-B0B6-CF2E6F2F7E01}" type="datetime1">
              <a:rPr lang="en-IN" smtClean="0"/>
              <a:pPr/>
              <a:t>31-01-2026</a:t>
            </a:fld>
            <a:endParaRPr lang="en-IN"/>
          </a:p>
        </p:txBody>
      </p:sp>
      <p:sp>
        <p:nvSpPr>
          <p:cNvPr id="6" name="Footer Placeholder 5">
            <a:extLst>
              <a:ext uri="{FF2B5EF4-FFF2-40B4-BE49-F238E27FC236}">
                <a16:creationId xmlns:a16="http://schemas.microsoft.com/office/drawing/2014/main" id="{3611EDC9-53F7-46CE-9B1C-B999BCF227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4FECE7-D4F8-4E13-B22B-3E69193E148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42334020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53E51-6FED-4252-AE8D-10E9ADE8E8F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E43A8CB-0EAC-4DFD-A825-F1A89E07E8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B81793-EEE5-4B36-AB68-A56A3253E9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8B7E480-0365-40E1-BBF5-F594D108A0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0FEFA48-5012-4D51-B8C0-91BF319E948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4D1D2DF-7DFA-4CF0-BC4B-72FFBFAA4185}"/>
              </a:ext>
            </a:extLst>
          </p:cNvPr>
          <p:cNvSpPr>
            <a:spLocks noGrp="1"/>
          </p:cNvSpPr>
          <p:nvPr>
            <p:ph type="dt" sz="half" idx="10"/>
          </p:nvPr>
        </p:nvSpPr>
        <p:spPr/>
        <p:txBody>
          <a:bodyPr/>
          <a:lstStyle/>
          <a:p>
            <a:fld id="{66719C6A-C228-4666-85AF-BFCAEE8D9375}" type="datetime1">
              <a:rPr lang="en-IN" smtClean="0"/>
              <a:pPr/>
              <a:t>31-01-2026</a:t>
            </a:fld>
            <a:endParaRPr lang="en-IN"/>
          </a:p>
        </p:txBody>
      </p:sp>
      <p:sp>
        <p:nvSpPr>
          <p:cNvPr id="8" name="Footer Placeholder 7">
            <a:extLst>
              <a:ext uri="{FF2B5EF4-FFF2-40B4-BE49-F238E27FC236}">
                <a16:creationId xmlns:a16="http://schemas.microsoft.com/office/drawing/2014/main" id="{60739B97-6D68-4A91-A511-2AE65BFA1E7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F6BD875-8D41-458D-8FE8-BE926E35D7F9}"/>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065475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E06007-8559-4DDA-ADB5-24066989C95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C0EE19D-7F57-4B73-B755-C39F7A12E72F}"/>
              </a:ext>
            </a:extLst>
          </p:cNvPr>
          <p:cNvSpPr>
            <a:spLocks noGrp="1"/>
          </p:cNvSpPr>
          <p:nvPr>
            <p:ph type="dt" sz="half" idx="10"/>
          </p:nvPr>
        </p:nvSpPr>
        <p:spPr/>
        <p:txBody>
          <a:bodyPr/>
          <a:lstStyle/>
          <a:p>
            <a:fld id="{D1476AC4-8DFC-4A25-AB02-3BCD901770ED}" type="datetime1">
              <a:rPr lang="en-IN" smtClean="0"/>
              <a:pPr/>
              <a:t>31-01-2026</a:t>
            </a:fld>
            <a:endParaRPr lang="en-IN"/>
          </a:p>
        </p:txBody>
      </p:sp>
      <p:sp>
        <p:nvSpPr>
          <p:cNvPr id="4" name="Footer Placeholder 3">
            <a:extLst>
              <a:ext uri="{FF2B5EF4-FFF2-40B4-BE49-F238E27FC236}">
                <a16:creationId xmlns:a16="http://schemas.microsoft.com/office/drawing/2014/main" id="{67AAA0DE-AFC5-477D-9E07-FD8BD826AAB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FB54AAA-3535-4C14-8166-FB6EACD31BDE}"/>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7441096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7B6E093-DDDC-4C60-AEF1-EA4F544AD145}"/>
              </a:ext>
            </a:extLst>
          </p:cNvPr>
          <p:cNvSpPr>
            <a:spLocks noGrp="1"/>
          </p:cNvSpPr>
          <p:nvPr>
            <p:ph type="dt" sz="half" idx="10"/>
          </p:nvPr>
        </p:nvSpPr>
        <p:spPr/>
        <p:txBody>
          <a:bodyPr/>
          <a:lstStyle/>
          <a:p>
            <a:fld id="{A18A7FA7-F693-4DFB-AEDA-FE633EEC95AF}" type="datetime1">
              <a:rPr lang="en-IN" smtClean="0"/>
              <a:pPr/>
              <a:t>31-01-2026</a:t>
            </a:fld>
            <a:endParaRPr lang="en-IN"/>
          </a:p>
        </p:txBody>
      </p:sp>
      <p:sp>
        <p:nvSpPr>
          <p:cNvPr id="3" name="Footer Placeholder 2">
            <a:extLst>
              <a:ext uri="{FF2B5EF4-FFF2-40B4-BE49-F238E27FC236}">
                <a16:creationId xmlns:a16="http://schemas.microsoft.com/office/drawing/2014/main" id="{4E0C2FED-4935-43BE-9345-59669AE0209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6524748-2BAB-49A8-95A7-B4AD77E46E74}"/>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491688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72EA04-776C-4163-B584-044C333D888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90C04F9-E6C0-4D16-8852-953534E200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072862F-7160-4A67-8704-C47A0C879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1D65858-28DA-46E5-9508-74636F89DAE3}"/>
              </a:ext>
            </a:extLst>
          </p:cNvPr>
          <p:cNvSpPr>
            <a:spLocks noGrp="1"/>
          </p:cNvSpPr>
          <p:nvPr>
            <p:ph type="dt" sz="half" idx="10"/>
          </p:nvPr>
        </p:nvSpPr>
        <p:spPr/>
        <p:txBody>
          <a:bodyPr/>
          <a:lstStyle/>
          <a:p>
            <a:fld id="{43C56386-F633-4E6A-B8A1-EED31EF84510}" type="datetime1">
              <a:rPr lang="en-IN" smtClean="0"/>
              <a:pPr/>
              <a:t>31-01-2026</a:t>
            </a:fld>
            <a:endParaRPr lang="en-IN"/>
          </a:p>
        </p:txBody>
      </p:sp>
      <p:sp>
        <p:nvSpPr>
          <p:cNvPr id="6" name="Footer Placeholder 5">
            <a:extLst>
              <a:ext uri="{FF2B5EF4-FFF2-40B4-BE49-F238E27FC236}">
                <a16:creationId xmlns:a16="http://schemas.microsoft.com/office/drawing/2014/main" id="{05517B50-2DD1-4DB8-B8B8-0BAE9C952DD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701DAEE-A292-4277-BDC0-0070E249CAB8}"/>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119977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C3873-316E-4899-8153-7086CCE4EE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7B67437-F6CB-4767-9B90-77B1BC10B1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731625E-C2D4-4EC5-8F44-FBF944F65FD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5B6A3B-16DE-4E18-A332-29669A10B586}"/>
              </a:ext>
            </a:extLst>
          </p:cNvPr>
          <p:cNvSpPr>
            <a:spLocks noGrp="1"/>
          </p:cNvSpPr>
          <p:nvPr>
            <p:ph type="dt" sz="half" idx="10"/>
          </p:nvPr>
        </p:nvSpPr>
        <p:spPr/>
        <p:txBody>
          <a:bodyPr/>
          <a:lstStyle/>
          <a:p>
            <a:fld id="{56C880F4-BE75-409D-AF89-489FEC0B9E5F}" type="datetime1">
              <a:rPr lang="en-IN" smtClean="0"/>
              <a:pPr/>
              <a:t>31-01-2026</a:t>
            </a:fld>
            <a:endParaRPr lang="en-IN"/>
          </a:p>
        </p:txBody>
      </p:sp>
      <p:sp>
        <p:nvSpPr>
          <p:cNvPr id="6" name="Footer Placeholder 5">
            <a:extLst>
              <a:ext uri="{FF2B5EF4-FFF2-40B4-BE49-F238E27FC236}">
                <a16:creationId xmlns:a16="http://schemas.microsoft.com/office/drawing/2014/main" id="{DE65B289-D318-4A9C-BD6D-C44A849296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2EFA0E2-2C8D-4D74-B06E-178C555F194D}"/>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24910041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B190BA-7554-4D42-B48C-58DD0CF4395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0F3D475-FB0E-4B81-B116-9EF55A90474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1776E95-0183-4750-AF5B-7618B56938BC}"/>
              </a:ext>
            </a:extLst>
          </p:cNvPr>
          <p:cNvSpPr>
            <a:spLocks noGrp="1"/>
          </p:cNvSpPr>
          <p:nvPr>
            <p:ph type="dt" sz="half" idx="10"/>
          </p:nvPr>
        </p:nvSpPr>
        <p:spPr/>
        <p:txBody>
          <a:bodyPr/>
          <a:lstStyle/>
          <a:p>
            <a:fld id="{2039F6F4-037B-4332-9282-471FE71B5F7F}" type="datetime1">
              <a:rPr lang="en-IN" smtClean="0"/>
              <a:pPr/>
              <a:t>31-01-2026</a:t>
            </a:fld>
            <a:endParaRPr lang="en-IN"/>
          </a:p>
        </p:txBody>
      </p:sp>
      <p:sp>
        <p:nvSpPr>
          <p:cNvPr id="5" name="Footer Placeholder 4">
            <a:extLst>
              <a:ext uri="{FF2B5EF4-FFF2-40B4-BE49-F238E27FC236}">
                <a16:creationId xmlns:a16="http://schemas.microsoft.com/office/drawing/2014/main" id="{C29E9BCE-0963-403B-9D25-E460EE59B6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C5EF912-9095-430D-8535-5BD3E4EF864C}"/>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1238654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CF8ED9-F70E-4EB1-8828-BC267D05C36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34D1639-EE11-4E0F-9935-5EE4029CBBF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03C24BC-5C21-463E-8224-EEBB474F4DAC}"/>
              </a:ext>
            </a:extLst>
          </p:cNvPr>
          <p:cNvSpPr>
            <a:spLocks noGrp="1"/>
          </p:cNvSpPr>
          <p:nvPr>
            <p:ph type="dt" sz="half" idx="10"/>
          </p:nvPr>
        </p:nvSpPr>
        <p:spPr/>
        <p:txBody>
          <a:bodyPr/>
          <a:lstStyle/>
          <a:p>
            <a:fld id="{5EDABC32-C334-4B49-A727-D2C2C2E2FFFE}" type="datetime1">
              <a:rPr lang="en-IN" smtClean="0"/>
              <a:pPr/>
              <a:t>31-01-2026</a:t>
            </a:fld>
            <a:endParaRPr lang="en-IN"/>
          </a:p>
        </p:txBody>
      </p:sp>
      <p:sp>
        <p:nvSpPr>
          <p:cNvPr id="5" name="Footer Placeholder 4">
            <a:extLst>
              <a:ext uri="{FF2B5EF4-FFF2-40B4-BE49-F238E27FC236}">
                <a16:creationId xmlns:a16="http://schemas.microsoft.com/office/drawing/2014/main" id="{58817959-F41C-4265-B950-CE05B800FF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E3A482-8769-4E02-B46E-565987B03A21}"/>
              </a:ext>
            </a:extLst>
          </p:cNvPr>
          <p:cNvSpPr>
            <a:spLocks noGrp="1"/>
          </p:cNvSpPr>
          <p:nvPr>
            <p:ph type="sldNum" sz="quarter" idx="12"/>
          </p:nvPr>
        </p:nvSpPr>
        <p:spPr/>
        <p:txBody>
          <a:bodyPr/>
          <a:lstStyle/>
          <a:p>
            <a:fld id="{A0183BA4-7B10-4BE3-A0B2-A48721054ED6}" type="slidenum">
              <a:rPr lang="en-IN" smtClean="0"/>
              <a:pPr/>
              <a:t>‹#›</a:t>
            </a:fld>
            <a:endParaRPr lang="en-IN"/>
          </a:p>
        </p:txBody>
      </p:sp>
    </p:spTree>
    <p:extLst>
      <p:ext uri="{BB962C8B-B14F-4D97-AF65-F5344CB8AC3E}">
        <p14:creationId xmlns:p14="http://schemas.microsoft.com/office/powerpoint/2010/main" val="37639629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4167512-9A59-4F80-BDE3-E2EC9081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19B3164-25AA-4E2F-9CBD-64DBB8BCEA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6E2F16-F4BC-4CDE-9BA1-3FF94AA15EF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D12017-EE5D-4064-B320-4434A6A5A13F}" type="datetime1">
              <a:rPr lang="en-IN" smtClean="0"/>
              <a:pPr/>
              <a:t>31-01-2026</a:t>
            </a:fld>
            <a:endParaRPr lang="en-IN"/>
          </a:p>
        </p:txBody>
      </p:sp>
      <p:sp>
        <p:nvSpPr>
          <p:cNvPr id="5" name="Footer Placeholder 4">
            <a:extLst>
              <a:ext uri="{FF2B5EF4-FFF2-40B4-BE49-F238E27FC236}">
                <a16:creationId xmlns:a16="http://schemas.microsoft.com/office/drawing/2014/main" id="{37B6BA1D-C155-4BD7-98A4-5C4CD141FF4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DAFD399-70D5-46C3-AF05-F083473AF3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183BA4-7B10-4BE3-A0B2-A48721054ED6}" type="slidenum">
              <a:rPr lang="en-IN" smtClean="0"/>
              <a:pPr/>
              <a:t>‹#›</a:t>
            </a:fld>
            <a:endParaRPr lang="en-IN"/>
          </a:p>
        </p:txBody>
      </p:sp>
    </p:spTree>
    <p:extLst>
      <p:ext uri="{BB962C8B-B14F-4D97-AF65-F5344CB8AC3E}">
        <p14:creationId xmlns:p14="http://schemas.microsoft.com/office/powerpoint/2010/main" val="2861878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gi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image2.jpg">
            <a:extLst>
              <a:ext uri="{FF2B5EF4-FFF2-40B4-BE49-F238E27FC236}">
                <a16:creationId xmlns:a16="http://schemas.microsoft.com/office/drawing/2014/main" id="{663F759D-B900-42CE-B030-8F4D88C8D3C0}"/>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2386" y="0"/>
            <a:ext cx="2029613" cy="163231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34171B3D-41F2-4B45-860B-5E3607A31D49}"/>
              </a:ext>
            </a:extLst>
          </p:cNvPr>
          <p:cNvSpPr txBox="1"/>
          <p:nvPr/>
        </p:nvSpPr>
        <p:spPr>
          <a:xfrm>
            <a:off x="2220916" y="94410"/>
            <a:ext cx="7095897" cy="1485022"/>
          </a:xfrm>
          <a:prstGeom prst="rect">
            <a:avLst/>
          </a:prstGeom>
          <a:noFill/>
        </p:spPr>
        <p:txBody>
          <a:bodyPr wrap="square">
            <a:spAutoFit/>
          </a:bodyPr>
          <a:lstStyle/>
          <a:p>
            <a:pPr marR="16510" algn="ctr">
              <a:spcBef>
                <a:spcPts val="365"/>
              </a:spcBef>
              <a:spcAft>
                <a:spcPts val="250"/>
              </a:spcAft>
            </a:pPr>
            <a:r>
              <a:rPr lang="en-IN" sz="2800" b="1" dirty="0">
                <a:effectLst/>
                <a:latin typeface="Times New Roman" panose="02020603050405020304" pitchFamily="18" charset="0"/>
                <a:ea typeface="Times New Roman" panose="02020603050405020304" pitchFamily="18" charset="0"/>
                <a:cs typeface="Times New Roman" panose="02020603050405020304" pitchFamily="18" charset="0"/>
              </a:rPr>
              <a:t>St. MARTIN’S ENGINEERING COLLEGE</a:t>
            </a:r>
            <a:endParaRPr lang="en-IN" sz="28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Times New Roman" panose="02020603050405020304" pitchFamily="18" charset="0"/>
              </a:rPr>
              <a:t>UGC Autonomous </a:t>
            </a:r>
          </a:p>
          <a:p>
            <a:pPr marL="1143000" marR="1085850" indent="-2540" algn="ctr">
              <a:spcBef>
                <a:spcPts val="240"/>
              </a:spcBef>
              <a:spcAft>
                <a:spcPts val="250"/>
              </a:spcAft>
            </a:pPr>
            <a:r>
              <a:rPr lang="en-IN" sz="1600" b="1" dirty="0">
                <a:latin typeface="Times New Roman" panose="02020603050405020304" pitchFamily="18" charset="0"/>
                <a:ea typeface="Times New Roman" panose="02020603050405020304" pitchFamily="18" charset="0"/>
                <a:cs typeface="Mangal" panose="02040503050203030202" pitchFamily="18" charset="0"/>
              </a:rPr>
              <a:t>NBA &amp; NAAC A+ ACCREDITED</a:t>
            </a:r>
            <a:endParaRPr lang="en-IN" sz="1600" b="1" dirty="0">
              <a:latin typeface="Calibri" panose="020F0502020204030204" pitchFamily="34" charset="0"/>
              <a:ea typeface="Calibri" panose="020F0502020204030204" pitchFamily="34" charset="0"/>
              <a:cs typeface="Mangal" panose="02040503050203030202" pitchFamily="18" charset="0"/>
            </a:endParaRPr>
          </a:p>
          <a:p>
            <a:pPr marL="1143000" marR="1085850" indent="-2540" algn="ctr">
              <a:spcBef>
                <a:spcPts val="240"/>
              </a:spcBef>
              <a:spcAft>
                <a:spcPts val="250"/>
              </a:spcAft>
            </a:pPr>
            <a:r>
              <a:rPr lang="en-IN" sz="1600" b="1" dirty="0">
                <a:effectLst/>
                <a:latin typeface="Times New Roman" panose="02020603050405020304" pitchFamily="18" charset="0"/>
                <a:ea typeface="Times New Roman" panose="02020603050405020304" pitchFamily="18" charset="0"/>
                <a:cs typeface="Times New Roman" panose="02020603050405020304" pitchFamily="18" charset="0"/>
              </a:rPr>
              <a:t>Dhulapally, Secunderabad– 500100 </a:t>
            </a:r>
            <a:endParaRPr lang="en-IN" sz="1600" b="1" dirty="0">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14" name="Subtitle 2">
            <a:extLst>
              <a:ext uri="{FF2B5EF4-FFF2-40B4-BE49-F238E27FC236}">
                <a16:creationId xmlns:a16="http://schemas.microsoft.com/office/drawing/2014/main" id="{D76D3B75-5278-4020-9209-060C511363F8}"/>
              </a:ext>
            </a:extLst>
          </p:cNvPr>
          <p:cNvSpPr txBox="1">
            <a:spLocks/>
          </p:cNvSpPr>
          <p:nvPr/>
        </p:nvSpPr>
        <p:spPr>
          <a:xfrm>
            <a:off x="-1" y="2190941"/>
            <a:ext cx="12192000" cy="110050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600" b="1" dirty="0">
                <a:latin typeface="Times New Roman" panose="02020603050405020304" pitchFamily="18" charset="0"/>
                <a:cs typeface="Times New Roman" panose="02020603050405020304" pitchFamily="18" charset="0"/>
              </a:rPr>
              <a:t>Explainable AI for Intrusive Detection Systems: LIME and SHAP Applicability on Multi layer Perceptron</a:t>
            </a:r>
          </a:p>
        </p:txBody>
      </p:sp>
      <p:sp>
        <p:nvSpPr>
          <p:cNvPr id="15" name="TextBox 14">
            <a:extLst>
              <a:ext uri="{FF2B5EF4-FFF2-40B4-BE49-F238E27FC236}">
                <a16:creationId xmlns:a16="http://schemas.microsoft.com/office/drawing/2014/main" id="{BBE8A074-7A92-49E2-B981-AE2FCEAEB324}"/>
              </a:ext>
            </a:extLst>
          </p:cNvPr>
          <p:cNvSpPr txBox="1"/>
          <p:nvPr/>
        </p:nvSpPr>
        <p:spPr>
          <a:xfrm>
            <a:off x="2444620" y="3291442"/>
            <a:ext cx="7165911" cy="1569660"/>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Batch No: 14 </a:t>
            </a:r>
          </a:p>
          <a:p>
            <a:pPr algn="ctr"/>
            <a:r>
              <a:rPr lang="en-US" sz="2400" b="1" dirty="0">
                <a:latin typeface="Times New Roman" pitchFamily="18" charset="0"/>
                <a:cs typeface="Times New Roman" pitchFamily="18" charset="0"/>
              </a:rPr>
              <a:t>1. G. Tanuja   	(22K81A66C6)</a:t>
            </a:r>
          </a:p>
          <a:p>
            <a:pPr algn="ctr"/>
            <a:r>
              <a:rPr lang="en-US" sz="2400" b="1" dirty="0">
                <a:latin typeface="Times New Roman" pitchFamily="18" charset="0"/>
                <a:cs typeface="Times New Roman" pitchFamily="18" charset="0"/>
              </a:rPr>
              <a:t>2. Y. Sanjana  	(22K81A66B8)</a:t>
            </a:r>
          </a:p>
          <a:p>
            <a:pPr algn="ctr"/>
            <a:r>
              <a:rPr lang="en-US" sz="2400" b="1" dirty="0">
                <a:latin typeface="Times New Roman" pitchFamily="18" charset="0"/>
                <a:cs typeface="Times New Roman" pitchFamily="18" charset="0"/>
              </a:rPr>
              <a:t>3. D. </a:t>
            </a:r>
            <a:r>
              <a:rPr lang="en-US" sz="2400" b="1" dirty="0" err="1">
                <a:latin typeface="Times New Roman" pitchFamily="18" charset="0"/>
                <a:cs typeface="Times New Roman" pitchFamily="18" charset="0"/>
              </a:rPr>
              <a:t>Rishivardhan</a:t>
            </a:r>
            <a:r>
              <a:rPr lang="en-US" sz="2400" b="1" dirty="0">
                <a:latin typeface="Times New Roman" pitchFamily="18" charset="0"/>
                <a:cs typeface="Times New Roman" pitchFamily="18" charset="0"/>
              </a:rPr>
              <a:t>  	(22K81A6679)</a:t>
            </a:r>
          </a:p>
        </p:txBody>
      </p:sp>
      <p:sp>
        <p:nvSpPr>
          <p:cNvPr id="16" name="TextBox 15">
            <a:extLst>
              <a:ext uri="{FF2B5EF4-FFF2-40B4-BE49-F238E27FC236}">
                <a16:creationId xmlns:a16="http://schemas.microsoft.com/office/drawing/2014/main" id="{814846BF-F4EE-4ADF-8E6D-318E4ACE8748}"/>
              </a:ext>
            </a:extLst>
          </p:cNvPr>
          <p:cNvSpPr txBox="1"/>
          <p:nvPr/>
        </p:nvSpPr>
        <p:spPr>
          <a:xfrm>
            <a:off x="335902" y="5288340"/>
            <a:ext cx="11355355" cy="1569660"/>
          </a:xfrm>
          <a:prstGeom prst="rect">
            <a:avLst/>
          </a:prstGeom>
          <a:noFill/>
        </p:spPr>
        <p:txBody>
          <a:bodyPr wrap="square" rtlCol="0">
            <a:spAutoFit/>
          </a:bodyPr>
          <a:lstStyle/>
          <a:p>
            <a:pPr algn="ctr"/>
            <a:r>
              <a:rPr lang="en-US" sz="2400" b="1" dirty="0">
                <a:latin typeface="Times New Roman" panose="02020603050405020304" pitchFamily="18" charset="0"/>
                <a:cs typeface="Times New Roman" panose="02020603050405020304" pitchFamily="18" charset="0"/>
              </a:rPr>
              <a:t>Under the Guidance of</a:t>
            </a:r>
          </a:p>
          <a:p>
            <a:pPr algn="ctr"/>
            <a:r>
              <a:rPr lang="en-US" sz="2400" b="1" dirty="0">
                <a:latin typeface="Times New Roman" panose="02020603050405020304" pitchFamily="18" charset="0"/>
                <a:cs typeface="Times New Roman" panose="02020603050405020304" pitchFamily="18" charset="0"/>
              </a:rPr>
              <a:t>Mrs. K. Sankeerthana</a:t>
            </a:r>
          </a:p>
          <a:p>
            <a:pPr algn="ctr"/>
            <a:r>
              <a:rPr lang="en-US" sz="2400" b="1" dirty="0" err="1">
                <a:latin typeface="Times New Roman" panose="02020603050405020304" pitchFamily="18" charset="0"/>
                <a:cs typeface="Times New Roman" panose="02020603050405020304" pitchFamily="18" charset="0"/>
              </a:rPr>
              <a:t>Assisstant</a:t>
            </a:r>
            <a:r>
              <a:rPr lang="en-US" sz="2400" b="1" dirty="0">
                <a:latin typeface="Times New Roman" panose="02020603050405020304" pitchFamily="18" charset="0"/>
                <a:cs typeface="Times New Roman" panose="02020603050405020304" pitchFamily="18" charset="0"/>
              </a:rPr>
              <a:t> Professor</a:t>
            </a:r>
          </a:p>
          <a:p>
            <a:pPr algn="ctr"/>
            <a:r>
              <a:rPr lang="en-US" sz="2400" b="1" dirty="0">
                <a:latin typeface="Times New Roman" panose="02020603050405020304" pitchFamily="18" charset="0"/>
                <a:cs typeface="Times New Roman" panose="02020603050405020304" pitchFamily="18" charset="0"/>
              </a:rPr>
              <a:t>Department of Computer Science and Engineering(AI&amp;ML)</a:t>
            </a:r>
            <a:endParaRPr lang="en-IN" sz="2400" b="1" dirty="0">
              <a:latin typeface="Times New Roman" panose="02020603050405020304" pitchFamily="18" charset="0"/>
              <a:cs typeface="Times New Roman" panose="02020603050405020304" pitchFamily="18" charset="0"/>
            </a:endParaRPr>
          </a:p>
        </p:txBody>
      </p:sp>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269034" y="94410"/>
            <a:ext cx="1460912" cy="1240120"/>
          </a:xfrm>
          <a:prstGeom prst="rect">
            <a:avLst/>
          </a:prstGeom>
          <a:noFill/>
        </p:spPr>
      </p:pic>
      <p:sp>
        <p:nvSpPr>
          <p:cNvPr id="2" name="TextBox 1"/>
          <p:cNvSpPr txBox="1"/>
          <p:nvPr/>
        </p:nvSpPr>
        <p:spPr>
          <a:xfrm>
            <a:off x="1" y="1579432"/>
            <a:ext cx="12191998" cy="461665"/>
          </a:xfrm>
          <a:prstGeom prst="rect">
            <a:avLst/>
          </a:prstGeom>
          <a:noFill/>
        </p:spPr>
        <p:txBody>
          <a:bodyPr wrap="square" rtlCol="0">
            <a:spAutoFit/>
          </a:bodyPr>
          <a:lstStyle/>
          <a:p>
            <a:pPr algn="ctr"/>
            <a:r>
              <a:rPr lang="en-US" sz="2400" b="1" dirty="0">
                <a:latin typeface="Times New Roman" pitchFamily="18" charset="0"/>
                <a:cs typeface="Times New Roman" pitchFamily="18" charset="0"/>
              </a:rPr>
              <a:t>Department of Computer Science and Engineering(AI&amp;ML)</a:t>
            </a:r>
          </a:p>
        </p:txBody>
      </p:sp>
    </p:spTree>
    <p:extLst>
      <p:ext uri="{BB962C8B-B14F-4D97-AF65-F5344CB8AC3E}">
        <p14:creationId xmlns:p14="http://schemas.microsoft.com/office/powerpoint/2010/main" val="7377804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1"/>
            <a:ext cx="12192000" cy="983226"/>
          </a:xfrm>
        </p:spPr>
        <p:txBody>
          <a:bodyPr/>
          <a:lstStyle/>
          <a:p>
            <a:pPr algn="ctr"/>
            <a:r>
              <a:rPr lang="en-IN" sz="3600" b="1" dirty="0">
                <a:latin typeface="Times New Roman" panose="02020603050405020304" pitchFamily="18" charset="0"/>
                <a:cs typeface="Times New Roman" panose="02020603050405020304" pitchFamily="18" charset="0"/>
              </a:rPr>
              <a:t>OUTLINE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747252"/>
            <a:ext cx="12191999" cy="5722373"/>
          </a:xfrm>
        </p:spPr>
        <p:txBody>
          <a:bodyPr>
            <a:normAutofit lnSpcReduction="10000"/>
          </a:bodyPr>
          <a:lstStyle/>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Abstract</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Introduction</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Literature Survey</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Existing System</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Proposed System</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ea typeface="Times New Roman" panose="02020603050405020304" pitchFamily="18" charset="0"/>
              </a:rPr>
              <a:t>Flow diagram</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rPr>
              <a:t>Algorithms and Techniques</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rPr>
              <a:t>30 % code implementation</a:t>
            </a:r>
          </a:p>
          <a:p>
            <a:pPr marL="457200" indent="-457200" algn="just">
              <a:lnSpc>
                <a:spcPct val="150000"/>
              </a:lnSpc>
              <a:spcBef>
                <a:spcPts val="415"/>
              </a:spcBef>
              <a:buSzPct val="80000"/>
              <a:buFont typeface="+mj-lt"/>
              <a:buAutoNum type="arabicPeriod"/>
              <a:tabLst>
                <a:tab pos="367030" algn="l"/>
              </a:tabLst>
            </a:pPr>
            <a:r>
              <a:rPr lang="en-IN" sz="2600" dirty="0">
                <a:latin typeface="Times New Roman" panose="02020603050405020304" pitchFamily="18" charset="0"/>
              </a:rPr>
              <a:t>References</a:t>
            </a:r>
          </a:p>
          <a:p>
            <a:pPr marL="457200" indent="-457200" algn="just">
              <a:lnSpc>
                <a:spcPct val="150000"/>
              </a:lnSpc>
              <a:spcBef>
                <a:spcPts val="415"/>
              </a:spcBef>
              <a:buSzPct val="80000"/>
              <a:buFont typeface="+mj-lt"/>
              <a:buAutoNum type="arabicPeriod"/>
              <a:tabLst>
                <a:tab pos="367030" algn="l"/>
              </a:tabLst>
            </a:pPr>
            <a:endParaRPr lang="en-IN" dirty="0">
              <a:latin typeface="Times New Roman" panose="02020603050405020304" pitchFamily="18" charset="0"/>
            </a:endParaRPr>
          </a:p>
          <a:p>
            <a:pPr marL="457200" indent="-457200" algn="just">
              <a:lnSpc>
                <a:spcPct val="150000"/>
              </a:lnSpc>
              <a:spcBef>
                <a:spcPts val="415"/>
              </a:spcBef>
              <a:buSzPct val="80000"/>
              <a:buFont typeface="+mj-lt"/>
              <a:buAutoNum type="arabicPeriod"/>
              <a:tabLst>
                <a:tab pos="367030" algn="l"/>
              </a:tabLst>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2</a:t>
            </a:fld>
            <a:endParaRPr lang="en-IN"/>
          </a:p>
        </p:txBody>
      </p:sp>
    </p:spTree>
    <p:extLst>
      <p:ext uri="{BB962C8B-B14F-4D97-AF65-F5344CB8AC3E}">
        <p14:creationId xmlns:p14="http://schemas.microsoft.com/office/powerpoint/2010/main" val="38822264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091682"/>
            <a:ext cx="12191999" cy="5085281"/>
          </a:xfrm>
        </p:spPr>
        <p:txBody>
          <a:bodyPr>
            <a:normAutofit lnSpcReduction="10000"/>
          </a:bodyPr>
          <a:lstStyle/>
          <a:p>
            <a:pPr marL="0" indent="0" algn="just">
              <a:buNone/>
            </a:pPr>
            <a:r>
              <a:rPr lang="en-US" dirty="0">
                <a:latin typeface="Times New Roman" panose="02020603050405020304" pitchFamily="18" charset="0"/>
                <a:cs typeface="Times New Roman" panose="02020603050405020304" pitchFamily="18" charset="0"/>
              </a:rPr>
              <a:t>This study presents an explainable AI framework for Intrusion Detection Systems (IDS) using LIME and SHAP to interpret predictions made by deep learning models. IDS are crucial for identifying malicious activity in network traffic, but models like Multi-Layer </a:t>
            </a:r>
            <a:r>
              <a:rPr lang="en-US" dirty="0" err="1">
                <a:latin typeface="Times New Roman" panose="02020603050405020304" pitchFamily="18" charset="0"/>
                <a:cs typeface="Times New Roman" panose="02020603050405020304" pitchFamily="18" charset="0"/>
              </a:rPr>
              <a:t>Perceptrons</a:t>
            </a:r>
            <a:r>
              <a:rPr lang="en-US" dirty="0">
                <a:latin typeface="Times New Roman" panose="02020603050405020304" pitchFamily="18" charset="0"/>
                <a:cs typeface="Times New Roman" panose="02020603050405020304" pitchFamily="18" charset="0"/>
              </a:rPr>
              <a:t> (MLPs), LSTMs, and TCNs often lack transparency. Using the CIC IDS dataset, the system trains these models and enhances performance with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a Hybrid Voting Classifier, achieving up to 100% accuracy. To address the black-box nature of these models, LIME and SHAP are applied for interpretability. SHAP offers both global and local feature importance using game-theoretic principles, while LIME provides localized explanations by perturbing input features. These insights help analysts understand which features influence predictions and why certain instances are flagged as threats. The combination of high accuracy and interpretability improves trust, supports compliance, and enables better decision-making, making the system a robust solution for real-world cybersecurity applications.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3</a:t>
            </a:fld>
            <a:endParaRPr lang="en-IN"/>
          </a:p>
        </p:txBody>
      </p:sp>
    </p:spTree>
    <p:extLst>
      <p:ext uri="{BB962C8B-B14F-4D97-AF65-F5344CB8AC3E}">
        <p14:creationId xmlns:p14="http://schemas.microsoft.com/office/powerpoint/2010/main" val="12875364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119673"/>
            <a:ext cx="12191999" cy="5057290"/>
          </a:xfrm>
        </p:spPr>
        <p:txBody>
          <a:bodyPr>
            <a:noAutofit/>
          </a:bodyPr>
          <a:lstStyle/>
          <a:p>
            <a:pPr algn="just"/>
            <a:r>
              <a:rPr lang="en-US" dirty="0">
                <a:latin typeface="Times New Roman" panose="02020603050405020304" pitchFamily="18" charset="0"/>
                <a:cs typeface="Times New Roman" panose="02020603050405020304" pitchFamily="18" charset="0"/>
              </a:rPr>
              <a:t>Intrusion Detection Systems (IDS) are vital for identifying malicious activity in network traffic and protecting digital infrastructure. While deep learning models like Multi-Layer </a:t>
            </a:r>
            <a:r>
              <a:rPr lang="en-US" dirty="0" err="1">
                <a:latin typeface="Times New Roman" panose="02020603050405020304" pitchFamily="18" charset="0"/>
                <a:cs typeface="Times New Roman" panose="02020603050405020304" pitchFamily="18" charset="0"/>
              </a:rPr>
              <a:t>Perceptrons</a:t>
            </a:r>
            <a:r>
              <a:rPr lang="en-US" dirty="0">
                <a:latin typeface="Times New Roman" panose="02020603050405020304" pitchFamily="18" charset="0"/>
                <a:cs typeface="Times New Roman" panose="02020603050405020304" pitchFamily="18" charset="0"/>
              </a:rPr>
              <a:t> (MLPs), LSTMs, and TCNs offer high accuracy, their lack of transparency limits trust and interpretability. </a:t>
            </a:r>
          </a:p>
          <a:p>
            <a:pPr algn="just"/>
            <a:r>
              <a:rPr lang="en-US" dirty="0">
                <a:latin typeface="Times New Roman" panose="02020603050405020304" pitchFamily="18" charset="0"/>
                <a:cs typeface="Times New Roman" panose="02020603050405020304" pitchFamily="18" charset="0"/>
              </a:rPr>
              <a:t>This study introduces an Explainable AI (XAI) framework using LIME and SHAP to interpret IDS predictions. Trained on the CIC IDS dataset, the system includes high-performing models enhanced by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a Hybrid Voting Classifier, achieving up to 100% accuracy. </a:t>
            </a:r>
          </a:p>
          <a:p>
            <a:pPr algn="just"/>
            <a:r>
              <a:rPr lang="en-US" dirty="0">
                <a:latin typeface="Times New Roman" panose="02020603050405020304" pitchFamily="18" charset="0"/>
                <a:cs typeface="Times New Roman" panose="02020603050405020304" pitchFamily="18" charset="0"/>
              </a:rPr>
              <a:t>SHAP provides both global and local feature importance using game-theoretic principles, while LIME offers instance-level explanations by perturbing input features. These techniques help analysts understand which features influence predictions and why certain instances are flagged as threats.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4</a:t>
            </a:fld>
            <a:endParaRPr lang="en-IN"/>
          </a:p>
        </p:txBody>
      </p:sp>
    </p:spTree>
    <p:extLst>
      <p:ext uri="{BB962C8B-B14F-4D97-AF65-F5344CB8AC3E}">
        <p14:creationId xmlns:p14="http://schemas.microsoft.com/office/powerpoint/2010/main" val="459879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INTRODUCTION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 y="1203649"/>
            <a:ext cx="12191999" cy="4973314"/>
          </a:xfrm>
        </p:spPr>
        <p:txBody>
          <a:bodyPr/>
          <a:lstStyle/>
          <a:p>
            <a:pPr algn="just"/>
            <a:r>
              <a:rPr lang="en-US" dirty="0">
                <a:latin typeface="Times New Roman" panose="02020603050405020304" pitchFamily="18" charset="0"/>
                <a:cs typeface="Times New Roman" panose="02020603050405020304" pitchFamily="18" charset="0"/>
              </a:rPr>
              <a:t>By combining predictive performance with interpretability, the framework improves decision-making, supports compliance, and fosters trust in AI-driven cybersecurity solutions. </a:t>
            </a:r>
          </a:p>
          <a:p>
            <a:pPr algn="just"/>
            <a:r>
              <a:rPr lang="en-US" dirty="0">
                <a:latin typeface="Times New Roman" panose="02020603050405020304" pitchFamily="18" charset="0"/>
                <a:cs typeface="Times New Roman" panose="02020603050405020304" pitchFamily="18" charset="0"/>
              </a:rPr>
              <a:t>This dual approach makes the IDS both effective and transparent for real-world deployment.</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5</a:t>
            </a:fld>
            <a:endParaRPr lang="en-IN"/>
          </a:p>
        </p:txBody>
      </p:sp>
    </p:spTree>
    <p:extLst>
      <p:ext uri="{BB962C8B-B14F-4D97-AF65-F5344CB8AC3E}">
        <p14:creationId xmlns:p14="http://schemas.microsoft.com/office/powerpoint/2010/main" val="590321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F68BF-1F4C-710A-9732-1E37EA8A8AA2}"/>
              </a:ext>
            </a:extLst>
          </p:cNvPr>
          <p:cNvSpPr>
            <a:spLocks noGrp="1"/>
          </p:cNvSpPr>
          <p:nvPr>
            <p:ph type="title"/>
          </p:nvPr>
        </p:nvSpPr>
        <p:spPr>
          <a:xfrm>
            <a:off x="838200" y="136525"/>
            <a:ext cx="10515600" cy="1057793"/>
          </a:xfrm>
        </p:spPr>
        <p:txBody>
          <a:bodyPr>
            <a:normAutofit/>
          </a:bodyPr>
          <a:lstStyle/>
          <a:p>
            <a:pPr algn="just"/>
            <a:r>
              <a:rPr lang="en-US" sz="3600" b="1" dirty="0">
                <a:latin typeface="Times New Roman" panose="02020603050405020304" pitchFamily="18" charset="0"/>
                <a:cs typeface="Times New Roman" panose="02020603050405020304" pitchFamily="18" charset="0"/>
              </a:rPr>
              <a:t>                        LITERATURE SURVEY</a:t>
            </a:r>
          </a:p>
        </p:txBody>
      </p:sp>
      <p:sp>
        <p:nvSpPr>
          <p:cNvPr id="4" name="Date Placeholder 3">
            <a:extLst>
              <a:ext uri="{FF2B5EF4-FFF2-40B4-BE49-F238E27FC236}">
                <a16:creationId xmlns:a16="http://schemas.microsoft.com/office/drawing/2014/main" id="{FFC2EF4B-4CDA-1549-14E9-6A8D08FAB4C9}"/>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FB221BD4-02D5-CCCB-BDDB-91F2F634C17F}"/>
              </a:ext>
            </a:extLst>
          </p:cNvPr>
          <p:cNvSpPr>
            <a:spLocks noGrp="1"/>
          </p:cNvSpPr>
          <p:nvPr>
            <p:ph type="sldNum" sz="quarter" idx="12"/>
          </p:nvPr>
        </p:nvSpPr>
        <p:spPr/>
        <p:txBody>
          <a:bodyPr/>
          <a:lstStyle/>
          <a:p>
            <a:fld id="{A0183BA4-7B10-4BE3-A0B2-A48721054ED6}" type="slidenum">
              <a:rPr lang="en-IN" smtClean="0"/>
              <a:pPr/>
              <a:t>6</a:t>
            </a:fld>
            <a:endParaRPr lang="en-IN"/>
          </a:p>
        </p:txBody>
      </p:sp>
      <p:graphicFrame>
        <p:nvGraphicFramePr>
          <p:cNvPr id="9" name="Content Placeholder 8">
            <a:extLst>
              <a:ext uri="{FF2B5EF4-FFF2-40B4-BE49-F238E27FC236}">
                <a16:creationId xmlns:a16="http://schemas.microsoft.com/office/drawing/2014/main" id="{C0F25261-5525-9986-3A3C-90D21087D9F7}"/>
              </a:ext>
            </a:extLst>
          </p:cNvPr>
          <p:cNvGraphicFramePr>
            <a:graphicFrameLocks noGrp="1"/>
          </p:cNvGraphicFramePr>
          <p:nvPr>
            <p:ph idx="1"/>
            <p:extLst>
              <p:ext uri="{D42A27DB-BD31-4B8C-83A1-F6EECF244321}">
                <p14:modId xmlns:p14="http://schemas.microsoft.com/office/powerpoint/2010/main" val="3391926233"/>
              </p:ext>
            </p:extLst>
          </p:nvPr>
        </p:nvGraphicFramePr>
        <p:xfrm>
          <a:off x="326571" y="1026367"/>
          <a:ext cx="11560630" cy="5366032"/>
        </p:xfrm>
        <a:graphic>
          <a:graphicData uri="http://schemas.openxmlformats.org/drawingml/2006/table">
            <a:tbl>
              <a:tblPr firstRow="1" firstCol="1" lastRow="1" lastCol="1" bandRow="1">
                <a:tableStyleId>{5940675A-B579-460E-94D1-54222C63F5DA}</a:tableStyleId>
              </a:tblPr>
              <a:tblGrid>
                <a:gridCol w="2312126">
                  <a:extLst>
                    <a:ext uri="{9D8B030D-6E8A-4147-A177-3AD203B41FA5}">
                      <a16:colId xmlns:a16="http://schemas.microsoft.com/office/drawing/2014/main" val="2051358771"/>
                    </a:ext>
                  </a:extLst>
                </a:gridCol>
                <a:gridCol w="2312126">
                  <a:extLst>
                    <a:ext uri="{9D8B030D-6E8A-4147-A177-3AD203B41FA5}">
                      <a16:colId xmlns:a16="http://schemas.microsoft.com/office/drawing/2014/main" val="543910351"/>
                    </a:ext>
                  </a:extLst>
                </a:gridCol>
                <a:gridCol w="2312126">
                  <a:extLst>
                    <a:ext uri="{9D8B030D-6E8A-4147-A177-3AD203B41FA5}">
                      <a16:colId xmlns:a16="http://schemas.microsoft.com/office/drawing/2014/main" val="1869341446"/>
                    </a:ext>
                  </a:extLst>
                </a:gridCol>
                <a:gridCol w="2312126">
                  <a:extLst>
                    <a:ext uri="{9D8B030D-6E8A-4147-A177-3AD203B41FA5}">
                      <a16:colId xmlns:a16="http://schemas.microsoft.com/office/drawing/2014/main" val="1949523562"/>
                    </a:ext>
                  </a:extLst>
                </a:gridCol>
                <a:gridCol w="2312126">
                  <a:extLst>
                    <a:ext uri="{9D8B030D-6E8A-4147-A177-3AD203B41FA5}">
                      <a16:colId xmlns:a16="http://schemas.microsoft.com/office/drawing/2014/main" val="2893457783"/>
                    </a:ext>
                  </a:extLst>
                </a:gridCol>
              </a:tblGrid>
              <a:tr h="611152">
                <a:tc>
                  <a:txBody>
                    <a:bodyPr/>
                    <a:lstStyle/>
                    <a:p>
                      <a:pPr algn="just"/>
                      <a:r>
                        <a:rPr lang="en-US" b="1" dirty="0">
                          <a:latin typeface="Times New Roman" panose="02020603050405020304" pitchFamily="18" charset="0"/>
                          <a:cs typeface="Times New Roman" panose="02020603050405020304" pitchFamily="18" charset="0"/>
                        </a:rPr>
                        <a:t>            S.NO</a:t>
                      </a:r>
                    </a:p>
                  </a:txBody>
                  <a:tcPr/>
                </a:tc>
                <a:tc>
                  <a:txBody>
                    <a:bodyPr/>
                    <a:lstStyle/>
                    <a:p>
                      <a:r>
                        <a:rPr lang="en-US" dirty="0"/>
                        <a:t>         </a:t>
                      </a:r>
                      <a:r>
                        <a:rPr lang="en-US" b="1" dirty="0">
                          <a:latin typeface="Times New Roman" panose="02020603050405020304" pitchFamily="18" charset="0"/>
                          <a:cs typeface="Times New Roman" panose="02020603050405020304" pitchFamily="18" charset="0"/>
                        </a:rPr>
                        <a:t>AUTHOR</a:t>
                      </a:r>
                      <a:endParaRPr lang="en-US" dirty="0"/>
                    </a:p>
                  </a:txBody>
                  <a:tcPr/>
                </a:tc>
                <a:tc>
                  <a:txBody>
                    <a:bodyPr/>
                    <a:lstStyle/>
                    <a:p>
                      <a:r>
                        <a:rPr lang="en-US" dirty="0"/>
                        <a:t>           </a:t>
                      </a:r>
                      <a:r>
                        <a:rPr lang="en-US" b="1" dirty="0">
                          <a:latin typeface="Times New Roman" panose="02020603050405020304" pitchFamily="18" charset="0"/>
                          <a:cs typeface="Times New Roman" panose="02020603050405020304" pitchFamily="18" charset="0"/>
                        </a:rPr>
                        <a:t>TITLE</a:t>
                      </a:r>
                      <a:endParaRPr lang="en-US" b="1" dirty="0"/>
                    </a:p>
                  </a:txBody>
                  <a:tcPr/>
                </a:tc>
                <a:tc>
                  <a:txBody>
                    <a:bodyPr/>
                    <a:lstStyle/>
                    <a:p>
                      <a:r>
                        <a:rPr lang="en-US" dirty="0"/>
                        <a:t>           </a:t>
                      </a:r>
                      <a:r>
                        <a:rPr lang="en-US" b="1" dirty="0">
                          <a:latin typeface="Times New Roman" panose="02020603050405020304" pitchFamily="18" charset="0"/>
                          <a:cs typeface="Times New Roman" panose="02020603050405020304" pitchFamily="18" charset="0"/>
                        </a:rPr>
                        <a:t>YEAR</a:t>
                      </a:r>
                      <a:endParaRPr lang="en-US" b="1" dirty="0"/>
                    </a:p>
                  </a:txBody>
                  <a:tcPr/>
                </a:tc>
                <a:tc>
                  <a:txBody>
                    <a:bodyPr/>
                    <a:lstStyle/>
                    <a:p>
                      <a:r>
                        <a:rPr lang="en-US" b="1" dirty="0">
                          <a:latin typeface="Times New Roman" panose="02020603050405020304" pitchFamily="18" charset="0"/>
                          <a:cs typeface="Times New Roman" panose="02020603050405020304" pitchFamily="18" charset="0"/>
                        </a:rPr>
                        <a:t>CONTRIBUTIONS</a:t>
                      </a:r>
                    </a:p>
                  </a:txBody>
                  <a:tcPr/>
                </a:tc>
                <a:extLst>
                  <a:ext uri="{0D108BD9-81ED-4DB2-BD59-A6C34878D82A}">
                    <a16:rowId xmlns:a16="http://schemas.microsoft.com/office/drawing/2014/main" val="563268090"/>
                  </a:ext>
                </a:extLst>
              </a:tr>
              <a:tr h="1179708">
                <a:tc>
                  <a:txBody>
                    <a:bodyPr/>
                    <a:lstStyle/>
                    <a:p>
                      <a:pPr algn="ctr">
                        <a:buNone/>
                      </a:pPr>
                      <a:r>
                        <a:rPr lang="en-US" dirty="0">
                          <a:latin typeface="Times New Roman" panose="02020603050405020304" pitchFamily="18" charset="0"/>
                          <a:cs typeface="Times New Roman" panose="02020603050405020304" pitchFamily="18" charset="0"/>
                        </a:rPr>
                        <a:t>1</a:t>
                      </a:r>
                    </a:p>
                  </a:txBody>
                  <a:tcPr anchor="ctr"/>
                </a:tc>
                <a:tc>
                  <a:txBody>
                    <a:bodyPr/>
                    <a:lstStyle/>
                    <a:p>
                      <a:pPr algn="ctr">
                        <a:buNone/>
                      </a:pPr>
                      <a:r>
                        <a:rPr lang="en-US" dirty="0">
                          <a:latin typeface="Times New Roman" panose="02020603050405020304" pitchFamily="18" charset="0"/>
                          <a:cs typeface="Times New Roman" panose="02020603050405020304" pitchFamily="18" charset="0"/>
                        </a:rPr>
                        <a:t>Patel et al.</a:t>
                      </a:r>
                    </a:p>
                  </a:txBody>
                  <a:tcPr anchor="ct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LIME-based Interpretability for IDS</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2024</a:t>
                      </a:r>
                    </a:p>
                  </a:txBody>
                  <a:tcPr/>
                </a:tc>
                <a:tc>
                  <a:txBody>
                    <a:bodyPr/>
                    <a:lstStyle/>
                    <a:p>
                      <a:pPr algn="ctr"/>
                      <a:r>
                        <a:rPr lang="en-US" dirty="0">
                          <a:latin typeface="Times New Roman" panose="02020603050405020304" pitchFamily="18" charset="0"/>
                          <a:cs typeface="Times New Roman" panose="02020603050405020304" pitchFamily="18" charset="0"/>
                        </a:rPr>
                        <a:t>Used LIME to analyze false positives; improved debugging &amp; reliability</a:t>
                      </a:r>
                    </a:p>
                  </a:txBody>
                  <a:tcPr/>
                </a:tc>
                <a:extLst>
                  <a:ext uri="{0D108BD9-81ED-4DB2-BD59-A6C34878D82A}">
                    <a16:rowId xmlns:a16="http://schemas.microsoft.com/office/drawing/2014/main" val="2256181360"/>
                  </a:ext>
                </a:extLst>
              </a:tr>
              <a:tr h="1179708">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Kumar &amp; Singh</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Explainable IDS using MLP and SHAP</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2023</a:t>
                      </a:r>
                    </a:p>
                  </a:txBody>
                  <a:tcPr/>
                </a:tc>
                <a:tc>
                  <a:txBody>
                    <a:bodyPr/>
                    <a:lstStyle/>
                    <a:p>
                      <a:pPr algn="ctr"/>
                      <a:r>
                        <a:rPr lang="en-US" dirty="0">
                          <a:latin typeface="Times New Roman" panose="02020603050405020304" pitchFamily="18" charset="0"/>
                          <a:cs typeface="Times New Roman" panose="02020603050405020304" pitchFamily="18" charset="0"/>
                        </a:rPr>
                        <a:t>Used SHAP to interpret MLP outputs; improved IDS clarity &amp; trust.</a:t>
                      </a:r>
                    </a:p>
                  </a:txBody>
                  <a:tcPr/>
                </a:tc>
                <a:extLst>
                  <a:ext uri="{0D108BD9-81ED-4DB2-BD59-A6C34878D82A}">
                    <a16:rowId xmlns:a16="http://schemas.microsoft.com/office/drawing/2014/main" val="2735516326"/>
                  </a:ext>
                </a:extLst>
              </a:tr>
              <a:tr h="1179708">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3</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Khan et al</a:t>
                      </a:r>
                      <a:r>
                        <a:rPr lang="en-US" dirty="0"/>
                        <a:t>.</a:t>
                      </a:r>
                    </a:p>
                  </a:txBody>
                  <a:tcPr/>
                </a:tc>
                <a:tc>
                  <a:txBody>
                    <a:bodyPr/>
                    <a:lstStyle/>
                    <a:p>
                      <a:pPr algn="ctr"/>
                      <a:r>
                        <a:rPr lang="en-US" dirty="0">
                          <a:latin typeface="Times New Roman" panose="02020603050405020304" pitchFamily="18" charset="0"/>
                          <a:cs typeface="Times New Roman" panose="02020603050405020304" pitchFamily="18" charset="0"/>
                        </a:rPr>
                        <a:t>Interpretable Intrusion Detection Using Explainable AI</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2022</a:t>
                      </a:r>
                    </a:p>
                  </a:txBody>
                  <a:tcPr/>
                </a:tc>
                <a:tc>
                  <a:txBody>
                    <a:bodyPr/>
                    <a:lstStyle/>
                    <a:p>
                      <a:pPr algn="ctr"/>
                      <a:r>
                        <a:rPr lang="en-US" dirty="0">
                          <a:latin typeface="Times New Roman" panose="02020603050405020304" pitchFamily="18" charset="0"/>
                          <a:cs typeface="Times New Roman" panose="02020603050405020304" pitchFamily="18" charset="0"/>
                        </a:rPr>
                        <a:t>Compared LIME, SHAP; SHAP gave stable insights for MLP</a:t>
                      </a:r>
                      <a:r>
                        <a:rPr lang="en-US" dirty="0"/>
                        <a:t>.</a:t>
                      </a:r>
                    </a:p>
                  </a:txBody>
                  <a:tcPr/>
                </a:tc>
                <a:extLst>
                  <a:ext uri="{0D108BD9-81ED-4DB2-BD59-A6C34878D82A}">
                    <a16:rowId xmlns:a16="http://schemas.microsoft.com/office/drawing/2014/main" val="3867152662"/>
                  </a:ext>
                </a:extLst>
              </a:tr>
              <a:tr h="1179708">
                <a:tc>
                  <a:txBody>
                    <a:bodyPr/>
                    <a:lstStyle/>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4</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err="1">
                          <a:latin typeface="Times New Roman" panose="02020603050405020304" pitchFamily="18" charset="0"/>
                          <a:cs typeface="Times New Roman" panose="02020603050405020304" pitchFamily="18" charset="0"/>
                        </a:rPr>
                        <a:t>Shapourifard</a:t>
                      </a:r>
                      <a:r>
                        <a:rPr lang="en-US" dirty="0">
                          <a:latin typeface="Times New Roman" panose="02020603050405020304" pitchFamily="18" charset="0"/>
                          <a:cs typeface="Times New Roman" panose="02020603050405020304" pitchFamily="18" charset="0"/>
                        </a:rPr>
                        <a:t> et al.</a:t>
                      </a:r>
                    </a:p>
                  </a:txBody>
                  <a:tcPr/>
                </a:tc>
                <a:tc>
                  <a:txBody>
                    <a:bodyPr/>
                    <a:lstStyle/>
                    <a:p>
                      <a:pPr algn="ctr"/>
                      <a:r>
                        <a:rPr lang="en-US" dirty="0">
                          <a:latin typeface="Times New Roman" panose="02020603050405020304" pitchFamily="18" charset="0"/>
                          <a:cs typeface="Times New Roman" panose="02020603050405020304" pitchFamily="18" charset="0"/>
                        </a:rPr>
                        <a:t>Explainable Deep Intrusion Detection Using SHAP and LIME</a:t>
                      </a:r>
                    </a:p>
                  </a:txBody>
                  <a:tcPr/>
                </a:tc>
                <a:tc>
                  <a:txBody>
                    <a:bodyPr/>
                    <a:lstStyle/>
                    <a:p>
                      <a:pPr algn="ctr"/>
                      <a:endParaRPr lang="en-US" dirty="0">
                        <a:latin typeface="Times New Roman" panose="02020603050405020304" pitchFamily="18" charset="0"/>
                        <a:cs typeface="Times New Roman" panose="02020603050405020304" pitchFamily="18" charset="0"/>
                      </a:endParaRPr>
                    </a:p>
                    <a:p>
                      <a:pPr algn="ctr"/>
                      <a:r>
                        <a:rPr lang="en-US" dirty="0">
                          <a:latin typeface="Times New Roman" panose="02020603050405020304" pitchFamily="18" charset="0"/>
                          <a:cs typeface="Times New Roman" panose="02020603050405020304" pitchFamily="18" charset="0"/>
                        </a:rPr>
                        <a:t>2021</a:t>
                      </a:r>
                    </a:p>
                  </a:txBody>
                  <a:tcPr/>
                </a:tc>
                <a:tc>
                  <a:txBody>
                    <a:bodyPr/>
                    <a:lstStyle/>
                    <a:p>
                      <a:pPr algn="ctr"/>
                      <a:r>
                        <a:rPr lang="en-US" dirty="0">
                          <a:latin typeface="Times New Roman" panose="02020603050405020304" pitchFamily="18" charset="0"/>
                          <a:cs typeface="Times New Roman" panose="02020603050405020304" pitchFamily="18" charset="0"/>
                        </a:rPr>
                        <a:t>Applied LIME &amp; SHAP to deep IDS; enhanced transparency.</a:t>
                      </a:r>
                    </a:p>
                  </a:txBody>
                  <a:tcPr/>
                </a:tc>
                <a:extLst>
                  <a:ext uri="{0D108BD9-81ED-4DB2-BD59-A6C34878D82A}">
                    <a16:rowId xmlns:a16="http://schemas.microsoft.com/office/drawing/2014/main" val="2026330241"/>
                  </a:ext>
                </a:extLst>
              </a:tr>
            </a:tbl>
          </a:graphicData>
        </a:graphic>
      </p:graphicFrame>
    </p:spTree>
    <p:extLst>
      <p:ext uri="{BB962C8B-B14F-4D97-AF65-F5344CB8AC3E}">
        <p14:creationId xmlns:p14="http://schemas.microsoft.com/office/powerpoint/2010/main" val="16798751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EXISTING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289250" y="1203649"/>
            <a:ext cx="11551298" cy="4973314"/>
          </a:xfrm>
        </p:spPr>
        <p:txBody>
          <a:bodyPr/>
          <a:lstStyle/>
          <a:p>
            <a:pPr algn="just"/>
            <a:r>
              <a:rPr lang="en-IN" dirty="0">
                <a:latin typeface="Times New Roman" panose="02020603050405020304" pitchFamily="18" charset="0"/>
                <a:cs typeface="Times New Roman" panose="02020603050405020304" pitchFamily="18" charset="0"/>
              </a:rPr>
              <a:t>The existing IDS frameworks typically use machine or deep learning models such as MLP, Random Forests, or CNNs for classifying network traffic as normal or attack. These models are evaluated purely on accuracy metrics without any introspection into the features contributing to their decisions. As a result, the system lacks explainability and offers no insights into model trustworthiness or decision validation.</a:t>
            </a:r>
            <a:endParaRPr lang="en-US" dirty="0">
              <a:latin typeface="Times New Roman" panose="02020603050405020304" pitchFamily="18" charset="0"/>
              <a:cs typeface="Times New Roman" panose="02020603050405020304" pitchFamily="18" charset="0"/>
            </a:endParaRPr>
          </a:p>
          <a:p>
            <a:pPr marL="0" indent="0" algn="just">
              <a:buNone/>
            </a:pPr>
            <a:r>
              <a:rPr lang="en-IN" b="1" dirty="0">
                <a:latin typeface="Times New Roman" panose="02020603050405020304" pitchFamily="18" charset="0"/>
                <a:cs typeface="Times New Roman" panose="02020603050405020304" pitchFamily="18" charset="0"/>
              </a:rPr>
              <a:t>   Disadvantages:</a:t>
            </a:r>
            <a:endParaRPr lang="en-US"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No support for explainability; operates as a black box.</a:t>
            </a:r>
            <a:endParaRPr lang="en-US"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Limited to single model evaluation without enhancement options.</a:t>
            </a:r>
            <a:endParaRPr lang="en-US"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Lacks interpretability to identify most influential features in predictions.</a:t>
            </a: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7</a:t>
            </a:fld>
            <a:endParaRPr lang="en-IN"/>
          </a:p>
        </p:txBody>
      </p:sp>
    </p:spTree>
    <p:extLst>
      <p:ext uri="{BB962C8B-B14F-4D97-AF65-F5344CB8AC3E}">
        <p14:creationId xmlns:p14="http://schemas.microsoft.com/office/powerpoint/2010/main" val="2068432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PROPOSED SYSTEM</a:t>
            </a: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270588" y="1026367"/>
            <a:ext cx="11551298" cy="5150596"/>
          </a:xfrm>
        </p:spPr>
        <p:txBody>
          <a:bodyPr/>
          <a:lstStyle/>
          <a:p>
            <a:pPr algn="just"/>
            <a:r>
              <a:rPr lang="en-IN" dirty="0">
                <a:latin typeface="Times New Roman" panose="02020603050405020304" pitchFamily="18" charset="0"/>
                <a:cs typeface="Times New Roman" panose="02020603050405020304" pitchFamily="18" charset="0"/>
              </a:rPr>
              <a:t>The proposed system integrates explainable AI into IDS using </a:t>
            </a:r>
            <a:r>
              <a:rPr lang="en-IN" b="1" dirty="0">
                <a:latin typeface="Times New Roman" panose="02020603050405020304" pitchFamily="18" charset="0"/>
                <a:cs typeface="Times New Roman" panose="02020603050405020304" pitchFamily="18" charset="0"/>
              </a:rPr>
              <a:t>LIME</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SHAP</a:t>
            </a:r>
            <a:r>
              <a:rPr lang="en-IN" dirty="0">
                <a:latin typeface="Times New Roman" panose="02020603050405020304" pitchFamily="18" charset="0"/>
                <a:cs typeface="Times New Roman" panose="02020603050405020304" pitchFamily="18" charset="0"/>
              </a:rPr>
              <a:t> techniques applied on top of a </a:t>
            </a:r>
            <a:r>
              <a:rPr lang="en-IN" b="1" dirty="0">
                <a:latin typeface="Times New Roman" panose="02020603050405020304" pitchFamily="18" charset="0"/>
                <a:cs typeface="Times New Roman" panose="02020603050405020304" pitchFamily="18" charset="0"/>
              </a:rPr>
              <a:t>deep learning MLP model</a:t>
            </a:r>
            <a:r>
              <a:rPr lang="en-IN" dirty="0">
                <a:latin typeface="Times New Roman" panose="02020603050405020304" pitchFamily="18" charset="0"/>
                <a:cs typeface="Times New Roman" panose="02020603050405020304" pitchFamily="18" charset="0"/>
              </a:rPr>
              <a:t>, and further enhanced with models like </a:t>
            </a:r>
            <a:r>
              <a:rPr lang="en-IN" b="1" dirty="0">
                <a:latin typeface="Times New Roman" panose="02020603050405020304" pitchFamily="18" charset="0"/>
                <a:cs typeface="Times New Roman" panose="02020603050405020304" pitchFamily="18" charset="0"/>
              </a:rPr>
              <a:t>LSTM</a:t>
            </a:r>
            <a:r>
              <a:rPr lang="en-IN" dirty="0">
                <a:latin typeface="Times New Roman" panose="02020603050405020304" pitchFamily="18" charset="0"/>
                <a:cs typeface="Times New Roman" panose="02020603050405020304" pitchFamily="18" charset="0"/>
              </a:rPr>
              <a:t>, </a:t>
            </a:r>
            <a:r>
              <a:rPr lang="en-IN" b="1" dirty="0">
                <a:latin typeface="Times New Roman" panose="02020603050405020304" pitchFamily="18" charset="0"/>
                <a:cs typeface="Times New Roman" panose="02020603050405020304" pitchFamily="18" charset="0"/>
              </a:rPr>
              <a:t>TCN</a:t>
            </a:r>
            <a:r>
              <a:rPr lang="en-IN" dirty="0">
                <a:latin typeface="Times New Roman" panose="02020603050405020304" pitchFamily="18" charset="0"/>
                <a:cs typeface="Times New Roman" panose="02020603050405020304" pitchFamily="18" charset="0"/>
              </a:rPr>
              <a:t>, </a:t>
            </a:r>
            <a:r>
              <a:rPr lang="en-IN" b="1" dirty="0" err="1">
                <a:latin typeface="Times New Roman" panose="02020603050405020304" pitchFamily="18" charset="0"/>
                <a:cs typeface="Times New Roman" panose="02020603050405020304" pitchFamily="18" charset="0"/>
              </a:rPr>
              <a:t>XGBoost</a:t>
            </a:r>
            <a:r>
              <a:rPr lang="en-IN" dirty="0">
                <a:latin typeface="Times New Roman" panose="02020603050405020304" pitchFamily="18" charset="0"/>
                <a:cs typeface="Times New Roman" panose="02020603050405020304" pitchFamily="18" charset="0"/>
              </a:rPr>
              <a:t>, and </a:t>
            </a:r>
            <a:r>
              <a:rPr lang="en-IN" b="1" dirty="0">
                <a:latin typeface="Times New Roman" panose="02020603050405020304" pitchFamily="18" charset="0"/>
                <a:cs typeface="Times New Roman" panose="02020603050405020304" pitchFamily="18" charset="0"/>
              </a:rPr>
              <a:t>Voting Classifier</a:t>
            </a:r>
            <a:r>
              <a:rPr lang="en-IN" dirty="0">
                <a:latin typeface="Times New Roman" panose="02020603050405020304" pitchFamily="18" charset="0"/>
                <a:cs typeface="Times New Roman" panose="02020603050405020304" pitchFamily="18" charset="0"/>
              </a:rPr>
              <a:t>. The system not only predicts attacks with high accuracy but also provides clear justifications for each prediction, allowing better transparency, debugging, and security audits.</a:t>
            </a:r>
            <a:endParaRPr lang="en-US" dirty="0">
              <a:latin typeface="Times New Roman" panose="02020603050405020304" pitchFamily="18" charset="0"/>
              <a:cs typeface="Times New Roman" panose="02020603050405020304" pitchFamily="18" charset="0"/>
            </a:endParaRPr>
          </a:p>
          <a:p>
            <a:pPr marL="0" indent="0" algn="just">
              <a:buNone/>
            </a:pPr>
            <a:r>
              <a:rPr lang="en-IN" b="1" dirty="0">
                <a:latin typeface="Times New Roman" panose="02020603050405020304" pitchFamily="18" charset="0"/>
                <a:cs typeface="Times New Roman" panose="02020603050405020304" pitchFamily="18" charset="0"/>
              </a:rPr>
              <a:t>   Advantages:		</a:t>
            </a:r>
            <a:endParaRPr lang="en-US"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Integrates SHAP and LIME for local and global model interpretation.</a:t>
            </a:r>
            <a:endParaRPr lang="en-US" dirty="0">
              <a:latin typeface="Times New Roman" panose="02020603050405020304" pitchFamily="18" charset="0"/>
              <a:cs typeface="Times New Roman" panose="02020603050405020304" pitchFamily="18" charset="0"/>
            </a:endParaRPr>
          </a:p>
          <a:p>
            <a:pPr lvl="0" algn="just"/>
            <a:r>
              <a:rPr lang="en-IN" dirty="0">
                <a:latin typeface="Times New Roman" panose="02020603050405020304" pitchFamily="18" charset="0"/>
                <a:cs typeface="Times New Roman" panose="02020603050405020304" pitchFamily="18" charset="0"/>
              </a:rPr>
              <a:t>Experiments with multiple algorithms and ensemble models for optimal accuracy.</a:t>
            </a:r>
            <a:endParaRPr lang="en-US" dirty="0">
              <a:latin typeface="Times New Roman" panose="02020603050405020304" pitchFamily="18" charset="0"/>
              <a:cs typeface="Times New Roman" panose="02020603050405020304" pitchFamily="18" charset="0"/>
            </a:endParaRPr>
          </a:p>
          <a:p>
            <a:pPr algn="just"/>
            <a:r>
              <a:rPr lang="en-IN" dirty="0">
                <a:latin typeface="Times New Roman" panose="02020603050405020304" pitchFamily="18" charset="0"/>
                <a:cs typeface="Times New Roman" panose="02020603050405020304" pitchFamily="18" charset="0"/>
              </a:rPr>
              <a:t>Identifies and visualizes key contributing features, enhancing model trust.</a:t>
            </a: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8</a:t>
            </a:fld>
            <a:endParaRPr lang="en-IN"/>
          </a:p>
        </p:txBody>
      </p:sp>
    </p:spTree>
    <p:extLst>
      <p:ext uri="{BB962C8B-B14F-4D97-AF65-F5344CB8AC3E}">
        <p14:creationId xmlns:p14="http://schemas.microsoft.com/office/powerpoint/2010/main" val="40648916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0EB5D-EE48-0CDC-B079-F02F18113430}"/>
              </a:ext>
            </a:extLst>
          </p:cNvPr>
          <p:cNvSpPr>
            <a:spLocks noGrp="1"/>
          </p:cNvSpPr>
          <p:nvPr>
            <p:ph type="title"/>
          </p:nvPr>
        </p:nvSpPr>
        <p:spPr>
          <a:xfrm>
            <a:off x="838200" y="365126"/>
            <a:ext cx="10515600" cy="1188372"/>
          </a:xfrm>
        </p:spPr>
        <p:txBody>
          <a:bodyPr/>
          <a:lstStyle/>
          <a:p>
            <a:pPr algn="ctr"/>
            <a:r>
              <a:rPr lang="en-US" b="1" dirty="0">
                <a:latin typeface="Times New Roman" panose="02020603050405020304" pitchFamily="18" charset="0"/>
                <a:cs typeface="Times New Roman" panose="02020603050405020304" pitchFamily="18" charset="0"/>
              </a:rPr>
              <a:t>FLOW DIAGRAM</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B73E363-56FC-E618-5CFF-EBD6A2F75934}"/>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4F2A5D8F-4291-2BA7-9F38-C4CDF677EB96}"/>
              </a:ext>
            </a:extLst>
          </p:cNvPr>
          <p:cNvSpPr>
            <a:spLocks noGrp="1"/>
          </p:cNvSpPr>
          <p:nvPr>
            <p:ph type="sldNum" sz="quarter" idx="12"/>
          </p:nvPr>
        </p:nvSpPr>
        <p:spPr/>
        <p:txBody>
          <a:bodyPr/>
          <a:lstStyle/>
          <a:p>
            <a:fld id="{A0183BA4-7B10-4BE3-A0B2-A48721054ED6}" type="slidenum">
              <a:rPr lang="en-IN" smtClean="0"/>
              <a:pPr/>
              <a:t>9</a:t>
            </a:fld>
            <a:endParaRPr lang="en-IN"/>
          </a:p>
        </p:txBody>
      </p:sp>
      <p:pic>
        <p:nvPicPr>
          <p:cNvPr id="9" name="Content Placeholder 8">
            <a:extLst>
              <a:ext uri="{FF2B5EF4-FFF2-40B4-BE49-F238E27FC236}">
                <a16:creationId xmlns:a16="http://schemas.microsoft.com/office/drawing/2014/main" id="{0C98F2A1-955F-894A-FCF2-E807830BEFCA}"/>
              </a:ext>
            </a:extLst>
          </p:cNvPr>
          <p:cNvPicPr>
            <a:picLocks noGrp="1" noChangeAspect="1"/>
          </p:cNvPicPr>
          <p:nvPr>
            <p:ph idx="1"/>
          </p:nvPr>
        </p:nvPicPr>
        <p:blipFill>
          <a:blip r:embed="rId2"/>
          <a:stretch>
            <a:fillRect/>
          </a:stretch>
        </p:blipFill>
        <p:spPr bwMode="auto">
          <a:xfrm>
            <a:off x="838199" y="1326469"/>
            <a:ext cx="10311581" cy="444801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62718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1C721-75DA-01DE-F594-4D800E09EA19}"/>
              </a:ext>
            </a:extLst>
          </p:cNvPr>
          <p:cNvSpPr>
            <a:spLocks noGrp="1"/>
          </p:cNvSpPr>
          <p:nvPr>
            <p:ph type="title"/>
          </p:nvPr>
        </p:nvSpPr>
        <p:spPr/>
        <p:txBody>
          <a:bodyPr/>
          <a:lstStyle/>
          <a:p>
            <a:pPr algn="ctr"/>
            <a:r>
              <a:rPr lang="en-IN" b="1" dirty="0">
                <a:latin typeface="Times New Roman"/>
                <a:ea typeface="Times New Roman" panose="02020603050405020304" pitchFamily="18" charset="0"/>
                <a:cs typeface="Times New Roman"/>
              </a:rPr>
              <a:t>ALGORITHMS</a:t>
            </a:r>
            <a:br>
              <a:rPr lang="en-IN" dirty="0">
                <a:latin typeface="Times New Roman"/>
                <a:ea typeface="Times New Roman" panose="02020603050405020304" pitchFamily="18" charset="0"/>
                <a:cs typeface="Times New Roman"/>
              </a:rPr>
            </a:br>
            <a:endParaRPr lang="en-IN" dirty="0"/>
          </a:p>
        </p:txBody>
      </p:sp>
      <p:sp>
        <p:nvSpPr>
          <p:cNvPr id="3" name="Content Placeholder 2">
            <a:extLst>
              <a:ext uri="{FF2B5EF4-FFF2-40B4-BE49-F238E27FC236}">
                <a16:creationId xmlns:a16="http://schemas.microsoft.com/office/drawing/2014/main" id="{0FC9D860-4BA5-DD0A-1B9C-B301D2ACD617}"/>
              </a:ext>
            </a:extLst>
          </p:cNvPr>
          <p:cNvSpPr>
            <a:spLocks noGrp="1"/>
          </p:cNvSpPr>
          <p:nvPr>
            <p:ph idx="1"/>
          </p:nvPr>
        </p:nvSpPr>
        <p:spPr>
          <a:xfrm>
            <a:off x="838200" y="1189703"/>
            <a:ext cx="10515600" cy="4987260"/>
          </a:xfrm>
        </p:spPr>
        <p:txBody>
          <a:bodyPr/>
          <a:lstStyle/>
          <a:p>
            <a:r>
              <a:rPr lang="en-IN" b="1" dirty="0">
                <a:latin typeface="Times New Roman" panose="02020603050405020304" pitchFamily="18" charset="0"/>
                <a:cs typeface="Times New Roman" panose="02020603050405020304" pitchFamily="18" charset="0"/>
              </a:rPr>
              <a:t>K-Nearest </a:t>
            </a:r>
            <a:r>
              <a:rPr lang="en-IN" b="1" dirty="0" err="1">
                <a:latin typeface="Times New Roman" panose="02020603050405020304" pitchFamily="18" charset="0"/>
                <a:cs typeface="Times New Roman" panose="02020603050405020304" pitchFamily="18" charset="0"/>
              </a:rPr>
              <a:t>Neighbors</a:t>
            </a:r>
            <a:r>
              <a:rPr lang="en-IN" b="1" dirty="0">
                <a:latin typeface="Times New Roman" panose="02020603050405020304" pitchFamily="18" charset="0"/>
                <a:cs typeface="Times New Roman" panose="02020603050405020304" pitchFamily="18" charset="0"/>
              </a:rPr>
              <a:t> (K-NN) </a:t>
            </a:r>
            <a:r>
              <a:rPr lang="en-IN" dirty="0">
                <a:latin typeface="Times New Roman" panose="02020603050405020304" pitchFamily="18" charset="0"/>
                <a:cs typeface="Times New Roman" panose="02020603050405020304" pitchFamily="18" charset="0"/>
              </a:rPr>
              <a:t>– Identifies intrusions by comparing traffic with nearest known patterns.</a:t>
            </a:r>
          </a:p>
          <a:p>
            <a:r>
              <a:rPr lang="en-IN" b="1" dirty="0" err="1">
                <a:latin typeface="Times New Roman" panose="02020603050405020304" pitchFamily="18" charset="0"/>
                <a:cs typeface="Times New Roman" panose="02020603050405020304" pitchFamily="18" charset="0"/>
              </a:rPr>
              <a:t>XGBoost</a:t>
            </a:r>
            <a:r>
              <a:rPr lang="en-IN" b="1"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Uses gradient-boosted trees to efficiently detect complex attack patterns.</a:t>
            </a:r>
          </a:p>
          <a:p>
            <a:r>
              <a:rPr lang="en-IN" b="1" dirty="0">
                <a:latin typeface="Times New Roman" panose="02020603050405020304" pitchFamily="18" charset="0"/>
                <a:cs typeface="Times New Roman" panose="02020603050405020304" pitchFamily="18" charset="0"/>
              </a:rPr>
              <a:t>Artificial Neural Network (ANN) </a:t>
            </a:r>
            <a:r>
              <a:rPr lang="en-IN" dirty="0">
                <a:latin typeface="Times New Roman" panose="02020603050405020304" pitchFamily="18" charset="0"/>
                <a:cs typeface="Times New Roman" panose="02020603050405020304" pitchFamily="18" charset="0"/>
              </a:rPr>
              <a:t>– Learns nonlinear intrusion patterns through layered neurons.</a:t>
            </a:r>
          </a:p>
          <a:p>
            <a:r>
              <a:rPr lang="en-IN" b="1" dirty="0">
                <a:latin typeface="Times New Roman" panose="02020603050405020304" pitchFamily="18" charset="0"/>
                <a:cs typeface="Times New Roman" panose="02020603050405020304" pitchFamily="18" charset="0"/>
              </a:rPr>
              <a:t>LSTM </a:t>
            </a:r>
            <a:r>
              <a:rPr lang="en-IN" dirty="0">
                <a:latin typeface="Times New Roman" panose="02020603050405020304" pitchFamily="18" charset="0"/>
                <a:cs typeface="Times New Roman" panose="02020603050405020304" pitchFamily="18" charset="0"/>
              </a:rPr>
              <a:t>– Detects sequential attacks by </a:t>
            </a:r>
            <a:r>
              <a:rPr lang="en-IN" dirty="0" err="1">
                <a:latin typeface="Times New Roman" panose="02020603050405020304" pitchFamily="18" charset="0"/>
                <a:cs typeface="Times New Roman" panose="02020603050405020304" pitchFamily="18" charset="0"/>
              </a:rPr>
              <a:t>modeling</a:t>
            </a:r>
            <a:r>
              <a:rPr lang="en-IN" dirty="0">
                <a:latin typeface="Times New Roman" panose="02020603050405020304" pitchFamily="18" charset="0"/>
                <a:cs typeface="Times New Roman" panose="02020603050405020304" pitchFamily="18" charset="0"/>
              </a:rPr>
              <a:t> temporal dependencies in network traffic.</a:t>
            </a:r>
          </a:p>
          <a:p>
            <a:r>
              <a:rPr lang="en-US" b="1" dirty="0">
                <a:latin typeface="Times New Roman" panose="02020603050405020304" pitchFamily="18" charset="0"/>
                <a:cs typeface="Times New Roman" panose="02020603050405020304" pitchFamily="18" charset="0"/>
              </a:rPr>
              <a:t>Decision Tree </a:t>
            </a:r>
            <a:r>
              <a:rPr lang="en-US" dirty="0">
                <a:latin typeface="Times New Roman" panose="02020603050405020304" pitchFamily="18" charset="0"/>
                <a:cs typeface="Times New Roman" panose="02020603050405020304" pitchFamily="18" charset="0"/>
              </a:rPr>
              <a:t>– Classifies network traffic using hierarchical rule-based decisions.</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56A8F260-69FA-A645-5A38-1138C3B0EEB9}"/>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B3D83AA6-90AB-4D7A-15B4-80C72332EC60}"/>
              </a:ext>
            </a:extLst>
          </p:cNvPr>
          <p:cNvSpPr>
            <a:spLocks noGrp="1"/>
          </p:cNvSpPr>
          <p:nvPr>
            <p:ph type="sldNum" sz="quarter" idx="12"/>
          </p:nvPr>
        </p:nvSpPr>
        <p:spPr/>
        <p:txBody>
          <a:bodyPr/>
          <a:lstStyle/>
          <a:p>
            <a:fld id="{A0183BA4-7B10-4BE3-A0B2-A48721054ED6}" type="slidenum">
              <a:rPr lang="en-IN" smtClean="0"/>
              <a:pPr/>
              <a:t>10</a:t>
            </a:fld>
            <a:endParaRPr lang="en-IN"/>
          </a:p>
        </p:txBody>
      </p:sp>
    </p:spTree>
    <p:extLst>
      <p:ext uri="{BB962C8B-B14F-4D97-AF65-F5344CB8AC3E}">
        <p14:creationId xmlns:p14="http://schemas.microsoft.com/office/powerpoint/2010/main" val="10768190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7251A-49A8-19E2-9987-E3D787AB8901}"/>
              </a:ext>
            </a:extLst>
          </p:cNvPr>
          <p:cNvSpPr>
            <a:spLocks noGrp="1"/>
          </p:cNvSpPr>
          <p:nvPr>
            <p:ph type="title"/>
          </p:nvPr>
        </p:nvSpPr>
        <p:spPr>
          <a:xfrm>
            <a:off x="838200" y="365125"/>
            <a:ext cx="10515600" cy="1021223"/>
          </a:xfrm>
        </p:spPr>
        <p:txBody>
          <a:bodyPr/>
          <a:lstStyle/>
          <a:p>
            <a:pPr algn="ctr"/>
            <a:r>
              <a:rPr lang="en-US" b="1" dirty="0">
                <a:latin typeface="Times New Roman" panose="02020603050405020304" pitchFamily="18" charset="0"/>
                <a:cs typeface="Times New Roman" panose="02020603050405020304" pitchFamily="18" charset="0"/>
              </a:rPr>
              <a:t>TECHNIQUES</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9290B0F0-45D3-7E20-3A6F-029D05C9A0CC}"/>
              </a:ext>
            </a:extLst>
          </p:cNvPr>
          <p:cNvSpPr>
            <a:spLocks noGrp="1"/>
          </p:cNvSpPr>
          <p:nvPr>
            <p:ph idx="1"/>
          </p:nvPr>
        </p:nvSpPr>
        <p:spPr>
          <a:xfrm>
            <a:off x="838200" y="1386348"/>
            <a:ext cx="10515600" cy="4790615"/>
          </a:xfrm>
        </p:spPr>
        <p:txBody>
          <a:bodyPr/>
          <a:lstStyle/>
          <a:p>
            <a:r>
              <a:rPr lang="en-IN" b="1" dirty="0">
                <a:latin typeface="Times New Roman" panose="02020603050405020304" pitchFamily="18" charset="0"/>
                <a:cs typeface="Times New Roman" panose="02020603050405020304" pitchFamily="18" charset="0"/>
              </a:rPr>
              <a:t>LIME</a:t>
            </a:r>
            <a:r>
              <a:rPr lang="en-IN" dirty="0">
                <a:latin typeface="Times New Roman" panose="02020603050405020304" pitchFamily="18" charset="0"/>
                <a:cs typeface="Times New Roman" panose="02020603050405020304" pitchFamily="18" charset="0"/>
              </a:rPr>
              <a:t> – Explains individual intrusion predictions using a local interpretable surrogate model.</a:t>
            </a:r>
          </a:p>
          <a:p>
            <a:r>
              <a:rPr lang="en-IN" b="1" dirty="0" err="1">
                <a:latin typeface="Times New Roman" panose="02020603050405020304" pitchFamily="18" charset="0"/>
                <a:cs typeface="Times New Roman" panose="02020603050405020304" pitchFamily="18" charset="0"/>
              </a:rPr>
              <a:t>KernelSHAP</a:t>
            </a:r>
            <a:r>
              <a:rPr lang="en-IN" dirty="0">
                <a:latin typeface="Times New Roman" panose="02020603050405020304" pitchFamily="18" charset="0"/>
                <a:cs typeface="Times New Roman" panose="02020603050405020304" pitchFamily="18" charset="0"/>
              </a:rPr>
              <a:t> – Estimates feature contributions for any IDS model using Shapley values.</a:t>
            </a:r>
          </a:p>
          <a:p>
            <a:r>
              <a:rPr lang="en-IN" b="1" dirty="0" err="1">
                <a:latin typeface="Times New Roman" panose="02020603050405020304" pitchFamily="18" charset="0"/>
                <a:cs typeface="Times New Roman" panose="02020603050405020304" pitchFamily="18" charset="0"/>
              </a:rPr>
              <a:t>TreeSHAP</a:t>
            </a:r>
            <a:r>
              <a:rPr lang="en-IN" dirty="0">
                <a:latin typeface="Times New Roman" panose="02020603050405020304" pitchFamily="18" charset="0"/>
                <a:cs typeface="Times New Roman" panose="02020603050405020304" pitchFamily="18" charset="0"/>
              </a:rPr>
              <a:t> – Efficiently computes exact feature importance for tree-based IDS models.</a:t>
            </a:r>
          </a:p>
          <a:p>
            <a:r>
              <a:rPr lang="en-IN" b="1" dirty="0" err="1">
                <a:latin typeface="Times New Roman" panose="02020603050405020304" pitchFamily="18" charset="0"/>
                <a:cs typeface="Times New Roman" panose="02020603050405020304" pitchFamily="18" charset="0"/>
              </a:rPr>
              <a:t>DeepSHAP</a:t>
            </a:r>
            <a:r>
              <a:rPr lang="en-IN" dirty="0">
                <a:latin typeface="Times New Roman" panose="02020603050405020304" pitchFamily="18" charset="0"/>
                <a:cs typeface="Times New Roman" panose="02020603050405020304" pitchFamily="18" charset="0"/>
              </a:rPr>
              <a:t> – Explains neural-network-based IDS using backpropagated Shapley values.</a:t>
            </a:r>
          </a:p>
          <a:p>
            <a:r>
              <a:rPr lang="en-IN" b="1" dirty="0" err="1">
                <a:latin typeface="Times New Roman" panose="02020603050405020304" pitchFamily="18" charset="0"/>
                <a:cs typeface="Times New Roman" panose="02020603050405020304" pitchFamily="18" charset="0"/>
              </a:rPr>
              <a:t>LinearSHAP</a:t>
            </a:r>
            <a:r>
              <a:rPr lang="en-IN" dirty="0">
                <a:latin typeface="Times New Roman" panose="02020603050405020304" pitchFamily="18" charset="0"/>
                <a:cs typeface="Times New Roman" panose="02020603050405020304" pitchFamily="18" charset="0"/>
              </a:rPr>
              <a:t> – Provides exact explanations for linear intrusion detection models.</a:t>
            </a:r>
          </a:p>
        </p:txBody>
      </p:sp>
      <p:sp>
        <p:nvSpPr>
          <p:cNvPr id="4" name="Date Placeholder 3">
            <a:extLst>
              <a:ext uri="{FF2B5EF4-FFF2-40B4-BE49-F238E27FC236}">
                <a16:creationId xmlns:a16="http://schemas.microsoft.com/office/drawing/2014/main" id="{1A0E28DA-B24E-E314-B632-48F0C183BC8A}"/>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28EC4A67-6175-404A-18C8-A2D266C71D15}"/>
              </a:ext>
            </a:extLst>
          </p:cNvPr>
          <p:cNvSpPr>
            <a:spLocks noGrp="1"/>
          </p:cNvSpPr>
          <p:nvPr>
            <p:ph type="sldNum" sz="quarter" idx="12"/>
          </p:nvPr>
        </p:nvSpPr>
        <p:spPr/>
        <p:txBody>
          <a:bodyPr/>
          <a:lstStyle/>
          <a:p>
            <a:fld id="{A0183BA4-7B10-4BE3-A0B2-A48721054ED6}" type="slidenum">
              <a:rPr lang="en-IN" smtClean="0"/>
              <a:pPr/>
              <a:t>11</a:t>
            </a:fld>
            <a:endParaRPr lang="en-IN"/>
          </a:p>
        </p:txBody>
      </p:sp>
    </p:spTree>
    <p:extLst>
      <p:ext uri="{BB962C8B-B14F-4D97-AF65-F5344CB8AC3E}">
        <p14:creationId xmlns:p14="http://schemas.microsoft.com/office/powerpoint/2010/main" val="1574261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A0D5B-36DA-2262-172C-1369B915AFBD}"/>
              </a:ext>
            </a:extLst>
          </p:cNvPr>
          <p:cNvSpPr>
            <a:spLocks noGrp="1"/>
          </p:cNvSpPr>
          <p:nvPr>
            <p:ph type="title"/>
          </p:nvPr>
        </p:nvSpPr>
        <p:spPr>
          <a:xfrm>
            <a:off x="838200" y="365126"/>
            <a:ext cx="10515600" cy="890998"/>
          </a:xfrm>
        </p:spPr>
        <p:txBody>
          <a:bodyPr/>
          <a:lstStyle/>
          <a:p>
            <a:pPr algn="ctr"/>
            <a:r>
              <a:rPr lang="en-US" b="1" dirty="0">
                <a:latin typeface="Times New Roman" panose="02020603050405020304" pitchFamily="18" charset="0"/>
                <a:cs typeface="Times New Roman" panose="02020603050405020304" pitchFamily="18" charset="0"/>
              </a:rPr>
              <a:t>CODE(30% IMPLEMENTATION)</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41DB888-EBA4-9F91-D8F3-AFAC9EF4B0C3}"/>
              </a:ext>
            </a:extLst>
          </p:cNvPr>
          <p:cNvSpPr>
            <a:spLocks noGrp="1"/>
          </p:cNvSpPr>
          <p:nvPr>
            <p:ph idx="1"/>
          </p:nvPr>
        </p:nvSpPr>
        <p:spPr>
          <a:xfrm>
            <a:off x="838200" y="1256124"/>
            <a:ext cx="10515600" cy="4920839"/>
          </a:xfrm>
        </p:spPr>
        <p:txBody>
          <a:bodyPr>
            <a:normAutofit fontScale="25000" lnSpcReduction="20000"/>
          </a:bodyPr>
          <a:lstStyle/>
          <a:p>
            <a:pPr marL="0" indent="0">
              <a:buNone/>
            </a:pPr>
            <a:r>
              <a:rPr lang="en-IN" sz="8000" dirty="0">
                <a:latin typeface="Times New Roman" panose="02020603050405020304" pitchFamily="18" charset="0"/>
                <a:cs typeface="Times New Roman" panose="02020603050405020304" pitchFamily="18" charset="0"/>
              </a:rPr>
              <a:t>#Train IDS model</a:t>
            </a:r>
          </a:p>
          <a:p>
            <a:pPr marL="0" indent="0">
              <a:buNone/>
            </a:pPr>
            <a:r>
              <a:rPr lang="en-IN" sz="8000" dirty="0">
                <a:latin typeface="Times New Roman" panose="02020603050405020304" pitchFamily="18" charset="0"/>
                <a:cs typeface="Times New Roman" panose="02020603050405020304" pitchFamily="18" charset="0"/>
              </a:rPr>
              <a:t>from </a:t>
            </a:r>
            <a:r>
              <a:rPr lang="en-IN" sz="8000" dirty="0" err="1">
                <a:latin typeface="Times New Roman" panose="02020603050405020304" pitchFamily="18" charset="0"/>
                <a:cs typeface="Times New Roman" panose="02020603050405020304" pitchFamily="18" charset="0"/>
              </a:rPr>
              <a:t>sklearn.ensemble</a:t>
            </a:r>
            <a:r>
              <a:rPr lang="en-IN" sz="8000" dirty="0">
                <a:latin typeface="Times New Roman" panose="02020603050405020304" pitchFamily="18" charset="0"/>
                <a:cs typeface="Times New Roman" panose="02020603050405020304" pitchFamily="18" charset="0"/>
              </a:rPr>
              <a:t> import </a:t>
            </a:r>
            <a:r>
              <a:rPr lang="en-IN" sz="8000" dirty="0" err="1">
                <a:latin typeface="Times New Roman" panose="02020603050405020304" pitchFamily="18" charset="0"/>
                <a:cs typeface="Times New Roman" panose="02020603050405020304" pitchFamily="18" charset="0"/>
              </a:rPr>
              <a:t>RandomForestClassifier</a:t>
            </a:r>
            <a:endParaRPr lang="en-IN" sz="8000" dirty="0">
              <a:latin typeface="Times New Roman" panose="02020603050405020304" pitchFamily="18" charset="0"/>
              <a:cs typeface="Times New Roman" panose="02020603050405020304" pitchFamily="18" charset="0"/>
            </a:endParaRPr>
          </a:p>
          <a:p>
            <a:pPr marL="0" indent="0">
              <a:buNone/>
            </a:pPr>
            <a:r>
              <a:rPr lang="en-IN" sz="8000" dirty="0">
                <a:latin typeface="Times New Roman" panose="02020603050405020304" pitchFamily="18" charset="0"/>
                <a:cs typeface="Times New Roman" panose="02020603050405020304" pitchFamily="18" charset="0"/>
              </a:rPr>
              <a:t>model = </a:t>
            </a:r>
            <a:r>
              <a:rPr lang="en-IN" sz="8000" dirty="0" err="1">
                <a:latin typeface="Times New Roman" panose="02020603050405020304" pitchFamily="18" charset="0"/>
                <a:cs typeface="Times New Roman" panose="02020603050405020304" pitchFamily="18" charset="0"/>
              </a:rPr>
              <a:t>RandomForestClassifier</a:t>
            </a:r>
            <a:r>
              <a:rPr lang="en-IN" sz="8000" dirty="0">
                <a:latin typeface="Times New Roman" panose="02020603050405020304" pitchFamily="18" charset="0"/>
                <a:cs typeface="Times New Roman" panose="02020603050405020304" pitchFamily="18" charset="0"/>
              </a:rPr>
              <a:t>(</a:t>
            </a:r>
            <a:r>
              <a:rPr lang="en-IN" sz="8000" dirty="0" err="1">
                <a:latin typeface="Times New Roman" panose="02020603050405020304" pitchFamily="18" charset="0"/>
                <a:cs typeface="Times New Roman" panose="02020603050405020304" pitchFamily="18" charset="0"/>
              </a:rPr>
              <a:t>n_estimators</a:t>
            </a:r>
            <a:r>
              <a:rPr lang="en-IN" sz="8000" dirty="0">
                <a:latin typeface="Times New Roman" panose="02020603050405020304" pitchFamily="18" charset="0"/>
                <a:cs typeface="Times New Roman" panose="02020603050405020304" pitchFamily="18" charset="0"/>
              </a:rPr>
              <a:t>=100, </a:t>
            </a:r>
            <a:r>
              <a:rPr lang="en-IN" sz="8000" dirty="0" err="1">
                <a:latin typeface="Times New Roman" panose="02020603050405020304" pitchFamily="18" charset="0"/>
                <a:cs typeface="Times New Roman" panose="02020603050405020304" pitchFamily="18" charset="0"/>
              </a:rPr>
              <a:t>random_state</a:t>
            </a:r>
            <a:r>
              <a:rPr lang="en-IN" sz="8000" dirty="0">
                <a:latin typeface="Times New Roman" panose="02020603050405020304" pitchFamily="18" charset="0"/>
                <a:cs typeface="Times New Roman" panose="02020603050405020304" pitchFamily="18" charset="0"/>
              </a:rPr>
              <a:t>=42)</a:t>
            </a:r>
          </a:p>
          <a:p>
            <a:pPr marL="0" indent="0">
              <a:buNone/>
            </a:pPr>
            <a:r>
              <a:rPr lang="en-IN" sz="8000" dirty="0" err="1">
                <a:latin typeface="Times New Roman" panose="02020603050405020304" pitchFamily="18" charset="0"/>
                <a:cs typeface="Times New Roman" panose="02020603050405020304" pitchFamily="18" charset="0"/>
              </a:rPr>
              <a:t>model.fit</a:t>
            </a:r>
            <a:r>
              <a:rPr lang="en-IN" sz="8000" dirty="0">
                <a:latin typeface="Times New Roman" panose="02020603050405020304" pitchFamily="18" charset="0"/>
                <a:cs typeface="Times New Roman" panose="02020603050405020304" pitchFamily="18" charset="0"/>
              </a:rPr>
              <a:t>(</a:t>
            </a:r>
            <a:r>
              <a:rPr lang="en-IN" sz="8000" dirty="0" err="1">
                <a:latin typeface="Times New Roman" panose="02020603050405020304" pitchFamily="18" charset="0"/>
                <a:cs typeface="Times New Roman" panose="02020603050405020304" pitchFamily="18" charset="0"/>
              </a:rPr>
              <a:t>X_train</a:t>
            </a:r>
            <a:r>
              <a:rPr lang="en-IN" sz="8000" dirty="0">
                <a:latin typeface="Times New Roman" panose="02020603050405020304" pitchFamily="18" charset="0"/>
                <a:cs typeface="Times New Roman" panose="02020603050405020304" pitchFamily="18" charset="0"/>
              </a:rPr>
              <a:t>, </a:t>
            </a:r>
            <a:r>
              <a:rPr lang="en-IN" sz="8000" dirty="0" err="1">
                <a:latin typeface="Times New Roman" panose="02020603050405020304" pitchFamily="18" charset="0"/>
                <a:cs typeface="Times New Roman" panose="02020603050405020304" pitchFamily="18" charset="0"/>
              </a:rPr>
              <a:t>y_train</a:t>
            </a:r>
            <a:r>
              <a:rPr lang="en-IN" sz="8000" dirty="0">
                <a:latin typeface="Times New Roman" panose="02020603050405020304" pitchFamily="18" charset="0"/>
                <a:cs typeface="Times New Roman" panose="02020603050405020304" pitchFamily="18" charset="0"/>
              </a:rPr>
              <a:t>)</a:t>
            </a:r>
          </a:p>
          <a:p>
            <a:pPr marL="0" indent="0">
              <a:buNone/>
            </a:pPr>
            <a:endParaRPr lang="en-IN" sz="8000" dirty="0">
              <a:latin typeface="Times New Roman" panose="02020603050405020304" pitchFamily="18" charset="0"/>
              <a:cs typeface="Times New Roman" panose="02020603050405020304" pitchFamily="18" charset="0"/>
            </a:endParaRPr>
          </a:p>
          <a:p>
            <a:pPr marL="0" indent="0">
              <a:buNone/>
            </a:pPr>
            <a:r>
              <a:rPr lang="en-IN" sz="8000" dirty="0">
                <a:latin typeface="Times New Roman" panose="02020603050405020304" pitchFamily="18" charset="0"/>
                <a:cs typeface="Times New Roman" panose="02020603050405020304" pitchFamily="18" charset="0"/>
              </a:rPr>
              <a:t># Predict</a:t>
            </a:r>
          </a:p>
          <a:p>
            <a:pPr marL="0" indent="0">
              <a:buNone/>
            </a:pPr>
            <a:r>
              <a:rPr lang="en-IN" sz="8000" dirty="0" err="1">
                <a:latin typeface="Times New Roman" panose="02020603050405020304" pitchFamily="18" charset="0"/>
                <a:cs typeface="Times New Roman" panose="02020603050405020304" pitchFamily="18" charset="0"/>
              </a:rPr>
              <a:t>y_pred</a:t>
            </a:r>
            <a:r>
              <a:rPr lang="en-IN" sz="8000" dirty="0">
                <a:latin typeface="Times New Roman" panose="02020603050405020304" pitchFamily="18" charset="0"/>
                <a:cs typeface="Times New Roman" panose="02020603050405020304" pitchFamily="18" charset="0"/>
              </a:rPr>
              <a:t> = </a:t>
            </a:r>
            <a:r>
              <a:rPr lang="en-IN" sz="8000" dirty="0" err="1">
                <a:latin typeface="Times New Roman" panose="02020603050405020304" pitchFamily="18" charset="0"/>
                <a:cs typeface="Times New Roman" panose="02020603050405020304" pitchFamily="18" charset="0"/>
              </a:rPr>
              <a:t>model.predict</a:t>
            </a:r>
            <a:r>
              <a:rPr lang="en-IN" sz="8000" dirty="0">
                <a:latin typeface="Times New Roman" panose="02020603050405020304" pitchFamily="18" charset="0"/>
                <a:cs typeface="Times New Roman" panose="02020603050405020304" pitchFamily="18" charset="0"/>
              </a:rPr>
              <a:t>(</a:t>
            </a:r>
            <a:r>
              <a:rPr lang="en-IN" sz="8000" dirty="0" err="1">
                <a:latin typeface="Times New Roman" panose="02020603050405020304" pitchFamily="18" charset="0"/>
                <a:cs typeface="Times New Roman" panose="02020603050405020304" pitchFamily="18" charset="0"/>
              </a:rPr>
              <a:t>X_test</a:t>
            </a:r>
            <a:r>
              <a:rPr lang="en-IN" sz="8000" dirty="0">
                <a:latin typeface="Times New Roman" panose="02020603050405020304" pitchFamily="18" charset="0"/>
                <a:cs typeface="Times New Roman" panose="02020603050405020304" pitchFamily="18" charset="0"/>
              </a:rPr>
              <a:t>)</a:t>
            </a:r>
          </a:p>
          <a:p>
            <a:pPr marL="0" indent="0">
              <a:buNone/>
            </a:pPr>
            <a:endParaRPr lang="en-IN" sz="8000" dirty="0">
              <a:latin typeface="Times New Roman" panose="02020603050405020304" pitchFamily="18" charset="0"/>
              <a:cs typeface="Times New Roman" panose="02020603050405020304" pitchFamily="18" charset="0"/>
            </a:endParaRPr>
          </a:p>
          <a:p>
            <a:pPr marL="0" indent="0">
              <a:buNone/>
            </a:pPr>
            <a:r>
              <a:rPr lang="en-IN" sz="8000" dirty="0">
                <a:latin typeface="Times New Roman" panose="02020603050405020304" pitchFamily="18" charset="0"/>
                <a:cs typeface="Times New Roman" panose="02020603050405020304" pitchFamily="18" charset="0"/>
              </a:rPr>
              <a:t>from </a:t>
            </a:r>
            <a:r>
              <a:rPr lang="en-IN" sz="8000" dirty="0" err="1">
                <a:latin typeface="Times New Roman" panose="02020603050405020304" pitchFamily="18" charset="0"/>
                <a:cs typeface="Times New Roman" panose="02020603050405020304" pitchFamily="18" charset="0"/>
              </a:rPr>
              <a:t>lime.lime_tabular</a:t>
            </a:r>
            <a:r>
              <a:rPr lang="en-IN" sz="8000" dirty="0">
                <a:latin typeface="Times New Roman" panose="02020603050405020304" pitchFamily="18" charset="0"/>
                <a:cs typeface="Times New Roman" panose="02020603050405020304" pitchFamily="18" charset="0"/>
              </a:rPr>
              <a:t> import </a:t>
            </a:r>
            <a:r>
              <a:rPr lang="en-IN" sz="8000" dirty="0" err="1">
                <a:latin typeface="Times New Roman" panose="02020603050405020304" pitchFamily="18" charset="0"/>
                <a:cs typeface="Times New Roman" panose="02020603050405020304" pitchFamily="18" charset="0"/>
              </a:rPr>
              <a:t>LimeTabularExplainer</a:t>
            </a:r>
            <a:endParaRPr lang="en-IN" sz="8000" dirty="0">
              <a:latin typeface="Times New Roman" panose="02020603050405020304" pitchFamily="18" charset="0"/>
              <a:cs typeface="Times New Roman" panose="02020603050405020304" pitchFamily="18" charset="0"/>
            </a:endParaRPr>
          </a:p>
          <a:p>
            <a:pPr marL="0" indent="0">
              <a:buNone/>
            </a:pPr>
            <a:endParaRPr lang="en-IN" sz="8000" dirty="0">
              <a:latin typeface="Times New Roman" panose="02020603050405020304" pitchFamily="18" charset="0"/>
              <a:cs typeface="Times New Roman" panose="02020603050405020304" pitchFamily="18" charset="0"/>
            </a:endParaRPr>
          </a:p>
          <a:p>
            <a:pPr marL="0" indent="0">
              <a:buNone/>
            </a:pPr>
            <a:r>
              <a:rPr lang="en-IN" sz="8000" dirty="0" err="1">
                <a:latin typeface="Times New Roman" panose="02020603050405020304" pitchFamily="18" charset="0"/>
                <a:cs typeface="Times New Roman" panose="02020603050405020304" pitchFamily="18" charset="0"/>
              </a:rPr>
              <a:t>lime_explainer</a:t>
            </a:r>
            <a:r>
              <a:rPr lang="en-IN" sz="8000" dirty="0">
                <a:latin typeface="Times New Roman" panose="02020603050405020304" pitchFamily="18" charset="0"/>
                <a:cs typeface="Times New Roman" panose="02020603050405020304" pitchFamily="18" charset="0"/>
              </a:rPr>
              <a:t> = </a:t>
            </a:r>
            <a:r>
              <a:rPr lang="en-IN" sz="8000" dirty="0" err="1">
                <a:latin typeface="Times New Roman" panose="02020603050405020304" pitchFamily="18" charset="0"/>
                <a:cs typeface="Times New Roman" panose="02020603050405020304" pitchFamily="18" charset="0"/>
              </a:rPr>
              <a:t>LimeTabularExplainer</a:t>
            </a:r>
            <a:r>
              <a:rPr lang="en-IN" sz="8000" dirty="0">
                <a:latin typeface="Times New Roman" panose="02020603050405020304" pitchFamily="18" charset="0"/>
                <a:cs typeface="Times New Roman" panose="02020603050405020304" pitchFamily="18" charset="0"/>
              </a:rPr>
              <a:t>(</a:t>
            </a:r>
          </a:p>
          <a:p>
            <a:pPr marL="0" indent="0">
              <a:buNone/>
            </a:pPr>
            <a:r>
              <a:rPr lang="en-IN" sz="8000" dirty="0">
                <a:latin typeface="Times New Roman" panose="02020603050405020304" pitchFamily="18" charset="0"/>
                <a:cs typeface="Times New Roman" panose="02020603050405020304" pitchFamily="18" charset="0"/>
              </a:rPr>
              <a:t>    </a:t>
            </a:r>
            <a:r>
              <a:rPr lang="en-IN" sz="8000" dirty="0" err="1">
                <a:latin typeface="Times New Roman" panose="02020603050405020304" pitchFamily="18" charset="0"/>
                <a:cs typeface="Times New Roman" panose="02020603050405020304" pitchFamily="18" charset="0"/>
              </a:rPr>
              <a:t>X_train</a:t>
            </a:r>
            <a:r>
              <a:rPr lang="en-IN" sz="8000" dirty="0">
                <a:latin typeface="Times New Roman" panose="02020603050405020304" pitchFamily="18" charset="0"/>
                <a:cs typeface="Times New Roman" panose="02020603050405020304" pitchFamily="18" charset="0"/>
              </a:rPr>
              <a:t>,</a:t>
            </a:r>
          </a:p>
          <a:p>
            <a:pPr marL="0" indent="0">
              <a:buNone/>
            </a:pPr>
            <a:r>
              <a:rPr lang="en-IN" sz="8000" dirty="0">
                <a:latin typeface="Times New Roman" panose="02020603050405020304" pitchFamily="18" charset="0"/>
                <a:cs typeface="Times New Roman" panose="02020603050405020304" pitchFamily="18" charset="0"/>
              </a:rPr>
              <a:t>    </a:t>
            </a:r>
            <a:r>
              <a:rPr lang="en-IN" sz="8000" dirty="0" err="1">
                <a:latin typeface="Times New Roman" panose="02020603050405020304" pitchFamily="18" charset="0"/>
                <a:cs typeface="Times New Roman" panose="02020603050405020304" pitchFamily="18" charset="0"/>
              </a:rPr>
              <a:t>feature_names</a:t>
            </a:r>
            <a:r>
              <a:rPr lang="en-IN" sz="8000" dirty="0">
                <a:latin typeface="Times New Roman" panose="02020603050405020304" pitchFamily="18" charset="0"/>
                <a:cs typeface="Times New Roman" panose="02020603050405020304" pitchFamily="18" charset="0"/>
              </a:rPr>
              <a:t>=</a:t>
            </a:r>
            <a:r>
              <a:rPr lang="en-IN" sz="8000" dirty="0" err="1">
                <a:latin typeface="Times New Roman" panose="02020603050405020304" pitchFamily="18" charset="0"/>
                <a:cs typeface="Times New Roman" panose="02020603050405020304" pitchFamily="18" charset="0"/>
              </a:rPr>
              <a:t>feature_names</a:t>
            </a:r>
            <a:r>
              <a:rPr lang="en-IN" sz="8000" dirty="0">
                <a:latin typeface="Times New Roman" panose="02020603050405020304" pitchFamily="18" charset="0"/>
                <a:cs typeface="Times New Roman" panose="02020603050405020304" pitchFamily="18" charset="0"/>
              </a:rPr>
              <a:t>,</a:t>
            </a:r>
          </a:p>
          <a:p>
            <a:pPr marL="0" indent="0">
              <a:buNone/>
            </a:pPr>
            <a:r>
              <a:rPr lang="en-IN" sz="8000" dirty="0">
                <a:latin typeface="Times New Roman" panose="02020603050405020304" pitchFamily="18" charset="0"/>
                <a:cs typeface="Times New Roman" panose="02020603050405020304" pitchFamily="18" charset="0"/>
              </a:rPr>
              <a:t>    </a:t>
            </a:r>
            <a:r>
              <a:rPr lang="en-IN" sz="8000" dirty="0" err="1">
                <a:latin typeface="Times New Roman" panose="02020603050405020304" pitchFamily="18" charset="0"/>
                <a:cs typeface="Times New Roman" panose="02020603050405020304" pitchFamily="18" charset="0"/>
              </a:rPr>
              <a:t>class_names</a:t>
            </a:r>
            <a:r>
              <a:rPr lang="en-IN" sz="8000" dirty="0">
                <a:latin typeface="Times New Roman" panose="02020603050405020304" pitchFamily="18" charset="0"/>
                <a:cs typeface="Times New Roman" panose="02020603050405020304" pitchFamily="18" charset="0"/>
              </a:rPr>
              <a:t>=["Normal", "Attack"],</a:t>
            </a:r>
          </a:p>
          <a:p>
            <a:pPr marL="0" indent="0">
              <a:buNone/>
            </a:pPr>
            <a:r>
              <a:rPr lang="en-IN" sz="8000" dirty="0">
                <a:latin typeface="Times New Roman" panose="02020603050405020304" pitchFamily="18" charset="0"/>
                <a:cs typeface="Times New Roman" panose="02020603050405020304" pitchFamily="18" charset="0"/>
              </a:rPr>
              <a:t>    mode="classification"</a:t>
            </a:r>
          </a:p>
          <a:p>
            <a:pPr marL="0" indent="0">
              <a:buNone/>
            </a:pPr>
            <a:endParaRPr lang="en-IN" sz="7200"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027472B8-369A-6E46-0F43-9DBC1C208DC1}"/>
              </a:ext>
            </a:extLst>
          </p:cNvPr>
          <p:cNvSpPr>
            <a:spLocks noGrp="1"/>
          </p:cNvSpPr>
          <p:nvPr>
            <p:ph type="dt" sz="half" idx="10"/>
          </p:nvPr>
        </p:nvSpPr>
        <p:spPr>
          <a:xfrm>
            <a:off x="771833" y="6492875"/>
            <a:ext cx="2743200" cy="365125"/>
          </a:xfrm>
        </p:spPr>
        <p:txBody>
          <a:bodyPr/>
          <a:lstStyle/>
          <a:p>
            <a:r>
              <a:rPr lang="en-US" dirty="0"/>
              <a:t>31-01-2026</a:t>
            </a:r>
            <a:endParaRPr lang="en-IN" dirty="0"/>
          </a:p>
        </p:txBody>
      </p:sp>
      <p:sp>
        <p:nvSpPr>
          <p:cNvPr id="5" name="Slide Number Placeholder 4">
            <a:extLst>
              <a:ext uri="{FF2B5EF4-FFF2-40B4-BE49-F238E27FC236}">
                <a16:creationId xmlns:a16="http://schemas.microsoft.com/office/drawing/2014/main" id="{E15F2FEC-7E3C-2BA8-4FCD-F8943280B550}"/>
              </a:ext>
            </a:extLst>
          </p:cNvPr>
          <p:cNvSpPr>
            <a:spLocks noGrp="1"/>
          </p:cNvSpPr>
          <p:nvPr>
            <p:ph type="sldNum" sz="quarter" idx="12"/>
          </p:nvPr>
        </p:nvSpPr>
        <p:spPr/>
        <p:txBody>
          <a:bodyPr/>
          <a:lstStyle/>
          <a:p>
            <a:fld id="{A0183BA4-7B10-4BE3-A0B2-A48721054ED6}" type="slidenum">
              <a:rPr lang="en-IN" smtClean="0"/>
              <a:pPr/>
              <a:t>12</a:t>
            </a:fld>
            <a:endParaRPr lang="en-IN"/>
          </a:p>
        </p:txBody>
      </p:sp>
    </p:spTree>
    <p:extLst>
      <p:ext uri="{BB962C8B-B14F-4D97-AF65-F5344CB8AC3E}">
        <p14:creationId xmlns:p14="http://schemas.microsoft.com/office/powerpoint/2010/main" val="18407039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98CE8E-6C14-BF98-2913-65FEF35DC7F2}"/>
              </a:ext>
            </a:extLst>
          </p:cNvPr>
          <p:cNvSpPr>
            <a:spLocks noGrp="1"/>
          </p:cNvSpPr>
          <p:nvPr>
            <p:ph type="dt" sz="half" idx="10"/>
          </p:nvPr>
        </p:nvSpPr>
        <p:spPr/>
        <p:txBody>
          <a:bodyPr/>
          <a:lstStyle/>
          <a:p>
            <a:fld id="{A18A7FA7-F693-4DFB-AEDA-FE633EEC95AF}" type="datetime1">
              <a:rPr lang="en-IN" smtClean="0"/>
              <a:pPr/>
              <a:t>31-01-2026</a:t>
            </a:fld>
            <a:endParaRPr lang="en-IN"/>
          </a:p>
        </p:txBody>
      </p:sp>
      <p:sp>
        <p:nvSpPr>
          <p:cNvPr id="3" name="Slide Number Placeholder 2">
            <a:extLst>
              <a:ext uri="{FF2B5EF4-FFF2-40B4-BE49-F238E27FC236}">
                <a16:creationId xmlns:a16="http://schemas.microsoft.com/office/drawing/2014/main" id="{67A461F6-905D-EED9-2140-C21194115940}"/>
              </a:ext>
            </a:extLst>
          </p:cNvPr>
          <p:cNvSpPr>
            <a:spLocks noGrp="1"/>
          </p:cNvSpPr>
          <p:nvPr>
            <p:ph type="sldNum" sz="quarter" idx="12"/>
          </p:nvPr>
        </p:nvSpPr>
        <p:spPr/>
        <p:txBody>
          <a:bodyPr/>
          <a:lstStyle/>
          <a:p>
            <a:fld id="{A0183BA4-7B10-4BE3-A0B2-A48721054ED6}" type="slidenum">
              <a:rPr lang="en-IN" smtClean="0"/>
              <a:pPr/>
              <a:t>13</a:t>
            </a:fld>
            <a:endParaRPr lang="en-IN"/>
          </a:p>
        </p:txBody>
      </p:sp>
      <p:sp>
        <p:nvSpPr>
          <p:cNvPr id="5" name="TextBox 4">
            <a:extLst>
              <a:ext uri="{FF2B5EF4-FFF2-40B4-BE49-F238E27FC236}">
                <a16:creationId xmlns:a16="http://schemas.microsoft.com/office/drawing/2014/main" id="{6A492943-865B-9741-994B-A7AE1984ABC3}"/>
              </a:ext>
            </a:extLst>
          </p:cNvPr>
          <p:cNvSpPr txBox="1"/>
          <p:nvPr/>
        </p:nvSpPr>
        <p:spPr>
          <a:xfrm>
            <a:off x="403123" y="335845"/>
            <a:ext cx="11051458" cy="6186309"/>
          </a:xfrm>
          <a:prstGeom prst="rect">
            <a:avLst/>
          </a:prstGeom>
          <a:noFill/>
        </p:spPr>
        <p:txBody>
          <a:bodyPr wrap="square">
            <a:spAutoFit/>
          </a:bodyPr>
          <a:lstStyle/>
          <a:p>
            <a:pPr marL="0" indent="0">
              <a:buNone/>
            </a:pPr>
            <a:r>
              <a:rPr lang="en-IN" dirty="0">
                <a:latin typeface="Times New Roman" panose="02020603050405020304" pitchFamily="18" charset="0"/>
                <a:cs typeface="Times New Roman" panose="02020603050405020304" pitchFamily="18" charset="0"/>
              </a:rPr>
              <a:t>exp = </a:t>
            </a:r>
            <a:r>
              <a:rPr lang="en-IN" dirty="0" err="1">
                <a:latin typeface="Times New Roman" panose="02020603050405020304" pitchFamily="18" charset="0"/>
                <a:cs typeface="Times New Roman" panose="02020603050405020304" pitchFamily="18" charset="0"/>
              </a:rPr>
              <a:t>lime_explainer.explain_instance</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X_test</a:t>
            </a:r>
            <a:r>
              <a:rPr lang="en-IN" dirty="0">
                <a:latin typeface="Times New Roman" panose="02020603050405020304" pitchFamily="18" charset="0"/>
                <a:cs typeface="Times New Roman" panose="02020603050405020304" pitchFamily="18" charset="0"/>
              </a:rPr>
              <a:t>[0],</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model.predict_proba</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num_features</a:t>
            </a:r>
            <a:r>
              <a:rPr lang="en-IN" dirty="0">
                <a:latin typeface="Times New Roman" panose="02020603050405020304" pitchFamily="18" charset="0"/>
                <a:cs typeface="Times New Roman" panose="02020603050405020304" pitchFamily="18" charset="0"/>
              </a:rPr>
              <a:t>=5</a:t>
            </a:r>
          </a:p>
          <a:p>
            <a:pPr marL="0" indent="0">
              <a:buNone/>
            </a:pPr>
            <a:r>
              <a:rPr lang="en-IN" dirty="0">
                <a:latin typeface="Times New Roman" panose="02020603050405020304" pitchFamily="18" charset="0"/>
                <a:cs typeface="Times New Roman" panose="02020603050405020304" pitchFamily="18" charset="0"/>
              </a:rPr>
              <a:t>)</a:t>
            </a:r>
          </a:p>
          <a:p>
            <a:pPr marL="0" indent="0">
              <a:buNone/>
            </a:pPr>
            <a:r>
              <a:rPr lang="en-IN" dirty="0" err="1">
                <a:latin typeface="Times New Roman" panose="02020603050405020304" pitchFamily="18" charset="0"/>
                <a:cs typeface="Times New Roman" panose="02020603050405020304" pitchFamily="18" charset="0"/>
              </a:rPr>
              <a:t>exp.show_in_notebook</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import </a:t>
            </a:r>
            <a:r>
              <a:rPr lang="en-IN" dirty="0" err="1">
                <a:latin typeface="Times New Roman" panose="02020603050405020304" pitchFamily="18" charset="0"/>
                <a:cs typeface="Times New Roman" panose="02020603050405020304" pitchFamily="18" charset="0"/>
              </a:rPr>
              <a:t>shap</a:t>
            </a: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err="1">
                <a:latin typeface="Times New Roman" panose="02020603050405020304" pitchFamily="18" charset="0"/>
                <a:cs typeface="Times New Roman" panose="02020603050405020304" pitchFamily="18" charset="0"/>
              </a:rPr>
              <a:t>shap_explainer</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shap.TreeExplainer</a:t>
            </a:r>
            <a:r>
              <a:rPr lang="en-IN" dirty="0">
                <a:latin typeface="Times New Roman" panose="02020603050405020304" pitchFamily="18" charset="0"/>
                <a:cs typeface="Times New Roman" panose="02020603050405020304" pitchFamily="18" charset="0"/>
              </a:rPr>
              <a:t>(model)</a:t>
            </a:r>
          </a:p>
          <a:p>
            <a:pPr marL="0" indent="0">
              <a:buNone/>
            </a:pPr>
            <a:r>
              <a:rPr lang="en-IN" dirty="0" err="1">
                <a:latin typeface="Times New Roman" panose="02020603050405020304" pitchFamily="18" charset="0"/>
                <a:cs typeface="Times New Roman" panose="02020603050405020304" pitchFamily="18" charset="0"/>
              </a:rPr>
              <a:t>shap_values</a:t>
            </a:r>
            <a:r>
              <a:rPr lang="en-IN" dirty="0">
                <a:latin typeface="Times New Roman" panose="02020603050405020304" pitchFamily="18" charset="0"/>
                <a:cs typeface="Times New Roman" panose="02020603050405020304" pitchFamily="18" charset="0"/>
              </a:rPr>
              <a:t> = </a:t>
            </a:r>
            <a:r>
              <a:rPr lang="en-IN" dirty="0" err="1">
                <a:latin typeface="Times New Roman" panose="02020603050405020304" pitchFamily="18" charset="0"/>
                <a:cs typeface="Times New Roman" panose="02020603050405020304" pitchFamily="18" charset="0"/>
              </a:rPr>
              <a:t>shap_explainer.shap_values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X_test</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Global explanation</a:t>
            </a:r>
          </a:p>
          <a:p>
            <a:pPr marL="0" indent="0">
              <a:buNone/>
            </a:pPr>
            <a:r>
              <a:rPr lang="en-IN" dirty="0" err="1">
                <a:latin typeface="Times New Roman" panose="02020603050405020304" pitchFamily="18" charset="0"/>
                <a:cs typeface="Times New Roman" panose="02020603050405020304" pitchFamily="18" charset="0"/>
              </a:rPr>
              <a:t>shap.summary_plot</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shap_values</a:t>
            </a:r>
            <a:r>
              <a:rPr lang="en-IN" dirty="0">
                <a:latin typeface="Times New Roman" panose="02020603050405020304" pitchFamily="18" charset="0"/>
                <a:cs typeface="Times New Roman" panose="02020603050405020304" pitchFamily="18" charset="0"/>
              </a:rPr>
              <a:t>[1], </a:t>
            </a:r>
            <a:r>
              <a:rPr lang="en-IN" dirty="0" err="1">
                <a:latin typeface="Times New Roman" panose="02020603050405020304" pitchFamily="18" charset="0"/>
                <a:cs typeface="Times New Roman" panose="02020603050405020304" pitchFamily="18" charset="0"/>
              </a:rPr>
              <a:t>X_test</a:t>
            </a: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feature_names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feature_names</a:t>
            </a:r>
            <a:r>
              <a:rPr lang="en-IN" dirty="0">
                <a:latin typeface="Times New Roman" panose="02020603050405020304" pitchFamily="18" charset="0"/>
                <a:cs typeface="Times New Roman" panose="02020603050405020304" pitchFamily="18" charset="0"/>
              </a:rPr>
              <a:t>)</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 Local explanation</a:t>
            </a:r>
          </a:p>
          <a:p>
            <a:pPr marL="0" indent="0">
              <a:buNone/>
            </a:pPr>
            <a:r>
              <a:rPr lang="en-IN" dirty="0" err="1">
                <a:latin typeface="Times New Roman" panose="02020603050405020304" pitchFamily="18" charset="0"/>
                <a:cs typeface="Times New Roman" panose="02020603050405020304" pitchFamily="18" charset="0"/>
              </a:rPr>
              <a:t>shap.force_plot</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shap_explainer.expected_value</a:t>
            </a:r>
            <a:r>
              <a:rPr lang="en-IN" dirty="0">
                <a:latin typeface="Times New Roman" panose="02020603050405020304" pitchFamily="18" charset="0"/>
                <a:cs typeface="Times New Roman" panose="02020603050405020304" pitchFamily="18" charset="0"/>
              </a:rPr>
              <a:t>[1],</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shap_values</a:t>
            </a:r>
            <a:r>
              <a:rPr lang="en-IN" dirty="0">
                <a:latin typeface="Times New Roman" panose="02020603050405020304" pitchFamily="18" charset="0"/>
                <a:cs typeface="Times New Roman" panose="02020603050405020304" pitchFamily="18" charset="0"/>
              </a:rPr>
              <a:t>[1][0],</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X_test</a:t>
            </a:r>
            <a:r>
              <a:rPr lang="en-IN" dirty="0">
                <a:latin typeface="Times New Roman" panose="02020603050405020304" pitchFamily="18" charset="0"/>
                <a:cs typeface="Times New Roman" panose="02020603050405020304" pitchFamily="18" charset="0"/>
              </a:rPr>
              <a:t>[0],</a:t>
            </a:r>
          </a:p>
          <a:p>
            <a:pPr marL="0" indent="0">
              <a:buNone/>
            </a:pPr>
            <a:r>
              <a:rPr lang="en-IN" dirty="0">
                <a:latin typeface="Times New Roman" panose="02020603050405020304" pitchFamily="18" charset="0"/>
                <a:cs typeface="Times New Roman" panose="02020603050405020304" pitchFamily="18" charset="0"/>
              </a:rPr>
              <a:t>    </a:t>
            </a:r>
            <a:r>
              <a:rPr lang="en-IN" dirty="0" err="1">
                <a:latin typeface="Times New Roman" panose="02020603050405020304" pitchFamily="18" charset="0"/>
                <a:cs typeface="Times New Roman" panose="02020603050405020304" pitchFamily="18" charset="0"/>
              </a:rPr>
              <a:t>feature_names</a:t>
            </a:r>
            <a:r>
              <a:rPr lang="en-IN" dirty="0">
                <a:latin typeface="Times New Roman" panose="02020603050405020304" pitchFamily="18" charset="0"/>
                <a:cs typeface="Times New Roman" panose="02020603050405020304" pitchFamily="18" charset="0"/>
              </a:rPr>
              <a:t>=</a:t>
            </a:r>
            <a:r>
              <a:rPr lang="en-IN" dirty="0" err="1">
                <a:latin typeface="Times New Roman" panose="02020603050405020304" pitchFamily="18" charset="0"/>
                <a:cs typeface="Times New Roman" panose="02020603050405020304" pitchFamily="18" charset="0"/>
              </a:rPr>
              <a:t>feature_names</a:t>
            </a:r>
            <a:r>
              <a:rPr lang="en-IN" dirty="0">
                <a:latin typeface="Times New Roman" panose="02020603050405020304" pitchFamily="18" charset="0"/>
                <a:cs typeface="Times New Roman" panose="02020603050405020304" pitchFamily="18" charset="0"/>
              </a:rPr>
              <a:t>,</a:t>
            </a:r>
          </a:p>
          <a:p>
            <a:pPr marL="0" indent="0">
              <a:buNone/>
            </a:pPr>
            <a:r>
              <a:rPr lang="en-IN" dirty="0">
                <a:latin typeface="Times New Roman" panose="02020603050405020304" pitchFamily="18" charset="0"/>
                <a:cs typeface="Times New Roman" panose="02020603050405020304" pitchFamily="18" charset="0"/>
              </a:rPr>
              <a:t>    matplotlib=True</a:t>
            </a:r>
          </a:p>
          <a:p>
            <a:pPr marL="0" indent="0">
              <a:buNone/>
            </a:pPr>
            <a:r>
              <a:rPr lang="en-IN" dirty="0">
                <a:latin typeface="Times New Roman" panose="02020603050405020304" pitchFamily="18" charset="0"/>
                <a:cs typeface="Times New Roman" panose="02020603050405020304" pitchFamily="18" charset="0"/>
              </a:rPr>
              <a:t>)</a:t>
            </a:r>
            <a:endParaRPr lang="en-IN" dirty="0"/>
          </a:p>
        </p:txBody>
      </p:sp>
    </p:spTree>
    <p:extLst>
      <p:ext uri="{BB962C8B-B14F-4D97-AF65-F5344CB8AC3E}">
        <p14:creationId xmlns:p14="http://schemas.microsoft.com/office/powerpoint/2010/main" val="668407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C418E-FAD3-255A-261A-A3A598C586F8}"/>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EXPECTED OUTCOME</a:t>
            </a:r>
            <a:endParaRPr lang="en-IN" b="1" dirty="0">
              <a:latin typeface="Times New Roman" panose="02020603050405020304" pitchFamily="18" charset="0"/>
              <a:cs typeface="Times New Roman" panose="02020603050405020304" pitchFamily="18" charset="0"/>
            </a:endParaRPr>
          </a:p>
        </p:txBody>
      </p:sp>
      <p:pic>
        <p:nvPicPr>
          <p:cNvPr id="7" name="Content Placeholder 6">
            <a:extLst>
              <a:ext uri="{FF2B5EF4-FFF2-40B4-BE49-F238E27FC236}">
                <a16:creationId xmlns:a16="http://schemas.microsoft.com/office/drawing/2014/main" id="{CF5B55D2-9A28-A077-5018-0C57C1C77334}"/>
              </a:ext>
            </a:extLst>
          </p:cNvPr>
          <p:cNvPicPr>
            <a:picLocks noGrp="1" noChangeAspect="1"/>
          </p:cNvPicPr>
          <p:nvPr>
            <p:ph idx="1"/>
          </p:nvPr>
        </p:nvPicPr>
        <p:blipFill>
          <a:blip r:embed="rId2"/>
          <a:stretch>
            <a:fillRect/>
          </a:stretch>
        </p:blipFill>
        <p:spPr>
          <a:xfrm>
            <a:off x="1691148" y="1690688"/>
            <a:ext cx="9478297" cy="4208667"/>
          </a:xfrm>
        </p:spPr>
      </p:pic>
      <p:sp>
        <p:nvSpPr>
          <p:cNvPr id="4" name="Date Placeholder 3">
            <a:extLst>
              <a:ext uri="{FF2B5EF4-FFF2-40B4-BE49-F238E27FC236}">
                <a16:creationId xmlns:a16="http://schemas.microsoft.com/office/drawing/2014/main" id="{8B279839-BE41-011E-F569-E373D3E11B43}"/>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6E15E66F-742A-AE9A-2D6E-88F68D102276}"/>
              </a:ext>
            </a:extLst>
          </p:cNvPr>
          <p:cNvSpPr>
            <a:spLocks noGrp="1"/>
          </p:cNvSpPr>
          <p:nvPr>
            <p:ph type="sldNum" sz="quarter" idx="12"/>
          </p:nvPr>
        </p:nvSpPr>
        <p:spPr/>
        <p:txBody>
          <a:bodyPr/>
          <a:lstStyle/>
          <a:p>
            <a:fld id="{A0183BA4-7B10-4BE3-A0B2-A48721054ED6}" type="slidenum">
              <a:rPr lang="en-IN" smtClean="0"/>
              <a:pPr/>
              <a:t>14</a:t>
            </a:fld>
            <a:endParaRPr lang="en-IN"/>
          </a:p>
        </p:txBody>
      </p:sp>
    </p:spTree>
    <p:extLst>
      <p:ext uri="{BB962C8B-B14F-4D97-AF65-F5344CB8AC3E}">
        <p14:creationId xmlns:p14="http://schemas.microsoft.com/office/powerpoint/2010/main" val="3516640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11967" y="1017037"/>
            <a:ext cx="11896531" cy="5206482"/>
          </a:xfrm>
        </p:spPr>
        <p:txBody>
          <a:bodyPr>
            <a:normAutofit lnSpcReduction="10000"/>
          </a:bodyPr>
          <a:lstStyle/>
          <a:p>
            <a:pPr marL="0" lvl="0" indent="0" algn="just">
              <a:buNone/>
            </a:pPr>
            <a:r>
              <a:rPr lang="en-US" dirty="0">
                <a:latin typeface="Times New Roman" pitchFamily="18" charset="0"/>
                <a:cs typeface="Times New Roman" pitchFamily="18" charset="0"/>
              </a:rPr>
              <a:t>[1]. L. Santos, C. </a:t>
            </a:r>
            <a:r>
              <a:rPr lang="en-US" dirty="0" err="1">
                <a:latin typeface="Times New Roman" panose="02020603050405020304" pitchFamily="18" charset="0"/>
                <a:cs typeface="Times New Roman" panose="02020603050405020304" pitchFamily="18" charset="0"/>
              </a:rPr>
              <a:t>Rabadao</a:t>
            </a:r>
            <a:r>
              <a:rPr lang="en-US" dirty="0">
                <a:latin typeface="Times New Roman" panose="02020603050405020304" pitchFamily="18" charset="0"/>
                <a:cs typeface="Times New Roman" panose="02020603050405020304" pitchFamily="18" charset="0"/>
              </a:rPr>
              <a:t>, and R. Gonçalves, “Intrusion detection systems in Internet of Things: A literature review,” in </a:t>
            </a:r>
            <a:r>
              <a:rPr lang="en-US" i="1" dirty="0">
                <a:latin typeface="Times New Roman" panose="02020603050405020304" pitchFamily="18" charset="0"/>
                <a:cs typeface="Times New Roman" panose="02020603050405020304" pitchFamily="18" charset="0"/>
              </a:rPr>
              <a:t>Proc. 13th Iberian Conf. Inf. Syst. Technol. (CISTI)</a:t>
            </a:r>
            <a:r>
              <a:rPr lang="en-US" dirty="0">
                <a:latin typeface="Times New Roman" panose="02020603050405020304" pitchFamily="18" charset="0"/>
                <a:cs typeface="Times New Roman" panose="02020603050405020304" pitchFamily="18" charset="0"/>
              </a:rPr>
              <a:t>, Caceres, Spain, Jun. 2018.</a:t>
            </a:r>
            <a:endParaRPr lang="en-IN" dirty="0">
              <a:latin typeface="Times New Roman" panose="02020603050405020304" pitchFamily="18" charset="0"/>
              <a:cs typeface="Times New Roman" pitchFamily="18" charset="0"/>
            </a:endParaRPr>
          </a:p>
          <a:p>
            <a:pPr marL="0" lvl="0" indent="0" algn="just">
              <a:buNone/>
            </a:pPr>
            <a:r>
              <a:rPr lang="en-US" dirty="0">
                <a:latin typeface="Times New Roman" pitchFamily="18" charset="0"/>
                <a:cs typeface="Times New Roman" pitchFamily="18" charset="0"/>
              </a:rPr>
              <a:t>[2]. M. Conti, A. </a:t>
            </a:r>
            <a:r>
              <a:rPr lang="en-US" dirty="0" err="1">
                <a:latin typeface="Times New Roman" panose="02020603050405020304" pitchFamily="18" charset="0"/>
                <a:cs typeface="Times New Roman" panose="02020603050405020304" pitchFamily="18" charset="0"/>
              </a:rPr>
              <a:t>Dehghantanha</a:t>
            </a:r>
            <a:r>
              <a:rPr lang="en-US" dirty="0">
                <a:latin typeface="Times New Roman" panose="02020603050405020304" pitchFamily="18" charset="0"/>
                <a:cs typeface="Times New Roman" panose="02020603050405020304" pitchFamily="18" charset="0"/>
              </a:rPr>
              <a:t>, K. Franke, and S. Watson, “Internet of Things security and forensics: Challenges and opportunities,” </a:t>
            </a:r>
            <a:r>
              <a:rPr lang="en-US" i="1" dirty="0">
                <a:latin typeface="Times New Roman" panose="02020603050405020304" pitchFamily="18" charset="0"/>
                <a:cs typeface="Times New Roman" panose="02020603050405020304" pitchFamily="18" charset="0"/>
              </a:rPr>
              <a:t>Future Gener. </a:t>
            </a:r>
            <a:r>
              <a:rPr lang="en-US" i="1" dirty="0" err="1">
                <a:latin typeface="Times New Roman" panose="02020603050405020304" pitchFamily="18" charset="0"/>
                <a:cs typeface="Times New Roman" panose="02020603050405020304" pitchFamily="18" charset="0"/>
              </a:rPr>
              <a:t>Comput</a:t>
            </a:r>
            <a:r>
              <a:rPr lang="en-US" i="1" dirty="0">
                <a:latin typeface="Times New Roman" panose="02020603050405020304" pitchFamily="18" charset="0"/>
                <a:cs typeface="Times New Roman" panose="02020603050405020304" pitchFamily="18" charset="0"/>
              </a:rPr>
              <a:t>. Syst.</a:t>
            </a:r>
            <a:r>
              <a:rPr lang="en-US" dirty="0">
                <a:latin typeface="Times New Roman" panose="02020603050405020304" pitchFamily="18" charset="0"/>
                <a:cs typeface="Times New Roman" panose="02020603050405020304" pitchFamily="18" charset="0"/>
              </a:rPr>
              <a:t>, vol. 78, pp. 544–546, Jan. 2018</a:t>
            </a:r>
            <a:r>
              <a:rPr lang="en-US" dirty="0"/>
              <a:t>.</a:t>
            </a:r>
          </a:p>
          <a:p>
            <a:pPr marL="0" lvl="0" indent="0" algn="just">
              <a:buNone/>
            </a:pPr>
            <a:r>
              <a:rPr lang="en-US" dirty="0">
                <a:latin typeface="Times New Roman" pitchFamily="18" charset="0"/>
                <a:cs typeface="Times New Roman" pitchFamily="18" charset="0"/>
              </a:rPr>
              <a:t>[3]. D. Gunning and D. W. Aha, “DARPA’s explainable artificial intelligence program,” </a:t>
            </a:r>
            <a:r>
              <a:rPr lang="en-US" i="1" dirty="0">
                <a:latin typeface="Times New Roman" panose="02020603050405020304" pitchFamily="18" charset="0"/>
                <a:cs typeface="Times New Roman" panose="02020603050405020304" pitchFamily="18" charset="0"/>
              </a:rPr>
              <a:t>AI Mag.</a:t>
            </a:r>
            <a:r>
              <a:rPr lang="en-US" dirty="0">
                <a:latin typeface="Times New Roman" panose="02020603050405020304" pitchFamily="18" charset="0"/>
                <a:cs typeface="Times New Roman" panose="02020603050405020304" pitchFamily="18" charset="0"/>
              </a:rPr>
              <a:t>, vol. 40, no. 2, pp. 44–58, 2019.</a:t>
            </a:r>
          </a:p>
          <a:p>
            <a:pPr marL="0" lvl="0" indent="0" algn="just">
              <a:buNone/>
            </a:pPr>
            <a:r>
              <a:rPr lang="en-US" dirty="0">
                <a:latin typeface="Times New Roman" panose="02020603050405020304" pitchFamily="18" charset="0"/>
                <a:cs typeface="Times New Roman" panose="02020603050405020304" pitchFamily="18" charset="0"/>
              </a:rPr>
              <a:t>[4]. M. Wang, K. Zheng, Y. Yang, and X. Wang, “An explainable machine learning framework for intrusion detection systems,”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vol. 8, pp. 73127–73141, 2020</a:t>
            </a:r>
            <a:r>
              <a:rPr lang="en-US" dirty="0"/>
              <a:t>.</a:t>
            </a:r>
          </a:p>
          <a:p>
            <a:pPr marL="0" lvl="0" indent="0" algn="just">
              <a:buNone/>
            </a:pPr>
            <a:r>
              <a:rPr lang="en-US" dirty="0">
                <a:latin typeface="Times New Roman" panose="02020603050405020304" pitchFamily="18" charset="0"/>
                <a:cs typeface="Times New Roman" panose="02020603050405020304" pitchFamily="18" charset="0"/>
              </a:rPr>
              <a:t>[5].</a:t>
            </a:r>
            <a:r>
              <a:rPr lang="en-US" dirty="0"/>
              <a:t> </a:t>
            </a:r>
            <a:r>
              <a:rPr lang="en-US" dirty="0">
                <a:latin typeface="Times New Roman" panose="02020603050405020304" pitchFamily="18" charset="0"/>
                <a:cs typeface="Times New Roman" panose="02020603050405020304" pitchFamily="18" charset="0"/>
              </a:rPr>
              <a:t>S. Mane and D. Rao, “Explaining network intrusion detection system using explainable AI framework,” 2021.</a:t>
            </a:r>
            <a:endParaRPr lang="en-IN"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15</a:t>
            </a:fld>
            <a:endParaRPr lang="en-IN"/>
          </a:p>
        </p:txBody>
      </p:sp>
    </p:spTree>
    <p:extLst>
      <p:ext uri="{BB962C8B-B14F-4D97-AF65-F5344CB8AC3E}">
        <p14:creationId xmlns:p14="http://schemas.microsoft.com/office/powerpoint/2010/main" val="2374401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0"/>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REFERENCES </a:t>
            </a:r>
            <a:endParaRPr lang="en-IN"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FCE915-4185-4C62-8EF2-A59B4F631E3C}"/>
              </a:ext>
            </a:extLst>
          </p:cNvPr>
          <p:cNvSpPr>
            <a:spLocks noGrp="1"/>
          </p:cNvSpPr>
          <p:nvPr>
            <p:ph idx="1"/>
          </p:nvPr>
        </p:nvSpPr>
        <p:spPr>
          <a:xfrm>
            <a:off x="149290" y="933060"/>
            <a:ext cx="11821886" cy="5423289"/>
          </a:xfrm>
        </p:spPr>
        <p:txBody>
          <a:bodyPr>
            <a:normAutofit fontScale="85000" lnSpcReduction="20000"/>
          </a:bodyPr>
          <a:lstStyle/>
          <a:p>
            <a:pPr marL="0" lvl="0" indent="0" algn="just">
              <a:buNone/>
            </a:pPr>
            <a:r>
              <a:rPr lang="en-US" sz="3300" dirty="0">
                <a:latin typeface="Times New Roman" panose="02020603050405020304" pitchFamily="18" charset="0"/>
                <a:cs typeface="Times New Roman" pitchFamily="18" charset="0"/>
              </a:rPr>
              <a:t>[6]. S. Patil, V. Varadarajan, S. M. Mazhar, A. Sahibzada, N. Ahmed, O. Sinha, S. Kumar, K. Shaw, and K. Kotecha, “Explainable artificial intelligence for intrusion detection system,” </a:t>
            </a:r>
            <a:r>
              <a:rPr lang="en-US" sz="3300" i="1" dirty="0">
                <a:latin typeface="Times New Roman" panose="02020603050405020304" pitchFamily="18" charset="0"/>
                <a:cs typeface="Times New Roman" panose="02020603050405020304" pitchFamily="18" charset="0"/>
              </a:rPr>
              <a:t>Electronics</a:t>
            </a:r>
            <a:r>
              <a:rPr lang="en-US" sz="3300" dirty="0">
                <a:latin typeface="Times New Roman" panose="02020603050405020304" pitchFamily="18" charset="0"/>
                <a:cs typeface="Times New Roman" panose="02020603050405020304" pitchFamily="18" charset="0"/>
              </a:rPr>
              <a:t>, vol. 11, no. 19, p. 3079, 2022.</a:t>
            </a:r>
          </a:p>
          <a:p>
            <a:pPr marL="0" lvl="0" indent="0" algn="just">
              <a:buNone/>
            </a:pPr>
            <a:r>
              <a:rPr lang="en-US" sz="3300" dirty="0">
                <a:latin typeface="Times New Roman" panose="02020603050405020304" pitchFamily="18" charset="0"/>
                <a:cs typeface="Times New Roman" panose="02020603050405020304" pitchFamily="18" charset="0"/>
              </a:rPr>
              <a:t>[7]. D. L. Marino, C. S. Wickramasinghe, and M. Manic, “An adversarial approach for explainable AI in intrusion detection systems,” in </a:t>
            </a:r>
            <a:r>
              <a:rPr lang="en-US" sz="3300" i="1" dirty="0">
                <a:latin typeface="Times New Roman" panose="02020603050405020304" pitchFamily="18" charset="0"/>
                <a:cs typeface="Times New Roman" panose="02020603050405020304" pitchFamily="18" charset="0"/>
              </a:rPr>
              <a:t>Proc. IECON 44th Annu. Conf. IEEE Ind. Electron. Soc.</a:t>
            </a:r>
            <a:r>
              <a:rPr lang="en-US" sz="3300" dirty="0">
                <a:latin typeface="Times New Roman" panose="02020603050405020304" pitchFamily="18" charset="0"/>
                <a:cs typeface="Times New Roman" panose="02020603050405020304" pitchFamily="18" charset="0"/>
              </a:rPr>
              <a:t>, 2018.</a:t>
            </a:r>
          </a:p>
          <a:p>
            <a:pPr marL="0" lvl="0" indent="0" algn="just">
              <a:buNone/>
            </a:pPr>
            <a:r>
              <a:rPr lang="en-US" sz="3300" dirty="0">
                <a:latin typeface="Times New Roman" panose="02020603050405020304" pitchFamily="18" charset="0"/>
                <a:cs typeface="Times New Roman" panose="02020603050405020304" pitchFamily="18" charset="0"/>
              </a:rPr>
              <a:t>[8]. M. </a:t>
            </a:r>
            <a:r>
              <a:rPr lang="en-US" sz="3300" dirty="0" err="1">
                <a:latin typeface="Times New Roman" panose="02020603050405020304" pitchFamily="18" charset="0"/>
                <a:cs typeface="Times New Roman" panose="02020603050405020304" pitchFamily="18" charset="0"/>
              </a:rPr>
              <a:t>Siganos</a:t>
            </a:r>
            <a:r>
              <a:rPr lang="en-US" sz="3300" dirty="0">
                <a:latin typeface="Times New Roman" panose="02020603050405020304" pitchFamily="18" charset="0"/>
                <a:cs typeface="Times New Roman" panose="02020603050405020304" pitchFamily="18" charset="0"/>
              </a:rPr>
              <a:t>, P. </a:t>
            </a:r>
            <a:r>
              <a:rPr lang="en-US" sz="3300" dirty="0" err="1">
                <a:latin typeface="Times New Roman" panose="02020603050405020304" pitchFamily="18" charset="0"/>
                <a:cs typeface="Times New Roman" panose="02020603050405020304" pitchFamily="18" charset="0"/>
              </a:rPr>
              <a:t>Radoglou-Grammatikis</a:t>
            </a:r>
            <a:r>
              <a:rPr lang="en-US" sz="3300" dirty="0">
                <a:latin typeface="Times New Roman" panose="02020603050405020304" pitchFamily="18" charset="0"/>
                <a:cs typeface="Times New Roman" panose="02020603050405020304" pitchFamily="18" charset="0"/>
              </a:rPr>
              <a:t>, I. </a:t>
            </a:r>
            <a:r>
              <a:rPr lang="en-US" sz="3300" dirty="0" err="1">
                <a:latin typeface="Times New Roman" panose="02020603050405020304" pitchFamily="18" charset="0"/>
                <a:cs typeface="Times New Roman" panose="02020603050405020304" pitchFamily="18" charset="0"/>
              </a:rPr>
              <a:t>Kotsiuba</a:t>
            </a:r>
            <a:r>
              <a:rPr lang="en-US" sz="3300" dirty="0">
                <a:latin typeface="Times New Roman" panose="02020603050405020304" pitchFamily="18" charset="0"/>
                <a:cs typeface="Times New Roman" panose="02020603050405020304" pitchFamily="18" charset="0"/>
              </a:rPr>
              <a:t>, E. Markakis, I. </a:t>
            </a:r>
            <a:r>
              <a:rPr lang="en-US" sz="3300" dirty="0" err="1">
                <a:latin typeface="Times New Roman" panose="02020603050405020304" pitchFamily="18" charset="0"/>
                <a:cs typeface="Times New Roman" panose="02020603050405020304" pitchFamily="18" charset="0"/>
              </a:rPr>
              <a:t>Moscholios</a:t>
            </a:r>
            <a:r>
              <a:rPr lang="en-US" sz="3300" dirty="0">
                <a:latin typeface="Times New Roman" panose="02020603050405020304" pitchFamily="18" charset="0"/>
                <a:cs typeface="Times New Roman" panose="02020603050405020304" pitchFamily="18" charset="0"/>
              </a:rPr>
              <a:t>, S. </a:t>
            </a:r>
            <a:r>
              <a:rPr lang="en-US" sz="3300" dirty="0" err="1">
                <a:latin typeface="Times New Roman" panose="02020603050405020304" pitchFamily="18" charset="0"/>
                <a:cs typeface="Times New Roman" panose="02020603050405020304" pitchFamily="18" charset="0"/>
              </a:rPr>
              <a:t>Goudos</a:t>
            </a:r>
            <a:r>
              <a:rPr lang="en-US" sz="3300" dirty="0">
                <a:latin typeface="Times New Roman" panose="02020603050405020304" pitchFamily="18" charset="0"/>
                <a:cs typeface="Times New Roman" panose="02020603050405020304" pitchFamily="18" charset="0"/>
              </a:rPr>
              <a:t>, and P. </a:t>
            </a:r>
            <a:r>
              <a:rPr lang="en-US" sz="3300" dirty="0" err="1">
                <a:latin typeface="Times New Roman" panose="02020603050405020304" pitchFamily="18" charset="0"/>
                <a:cs typeface="Times New Roman" panose="02020603050405020304" pitchFamily="18" charset="0"/>
              </a:rPr>
              <a:t>Sarigiannidis</a:t>
            </a:r>
            <a:r>
              <a:rPr lang="en-US" sz="3300" dirty="0">
                <a:latin typeface="Times New Roman" panose="02020603050405020304" pitchFamily="18" charset="0"/>
                <a:cs typeface="Times New Roman" panose="02020603050405020304" pitchFamily="18" charset="0"/>
              </a:rPr>
              <a:t>, “Explainable AI-based intrusion detection in the Internet of Things,” in </a:t>
            </a:r>
            <a:r>
              <a:rPr lang="en-US" sz="3300" i="1" dirty="0">
                <a:latin typeface="Times New Roman" panose="02020603050405020304" pitchFamily="18" charset="0"/>
                <a:cs typeface="Times New Roman" panose="02020603050405020304" pitchFamily="18" charset="0"/>
              </a:rPr>
              <a:t>Proc. 18th Int. Conf. Availability, Rel. </a:t>
            </a:r>
            <a:r>
              <a:rPr lang="en-US" sz="3300" i="1" dirty="0" err="1">
                <a:latin typeface="Times New Roman" panose="02020603050405020304" pitchFamily="18" charset="0"/>
                <a:cs typeface="Times New Roman" panose="02020603050405020304" pitchFamily="18" charset="0"/>
              </a:rPr>
              <a:t>Secur</a:t>
            </a:r>
            <a:r>
              <a:rPr lang="en-US" sz="3300" i="1" dirty="0">
                <a:latin typeface="Times New Roman" panose="02020603050405020304" pitchFamily="18" charset="0"/>
                <a:cs typeface="Times New Roman" panose="02020603050405020304" pitchFamily="18" charset="0"/>
              </a:rPr>
              <a:t>.</a:t>
            </a:r>
            <a:r>
              <a:rPr lang="en-US" sz="3300" dirty="0">
                <a:latin typeface="Times New Roman" panose="02020603050405020304" pitchFamily="18" charset="0"/>
                <a:cs typeface="Times New Roman" panose="02020603050405020304" pitchFamily="18" charset="0"/>
              </a:rPr>
              <a:t> New York, NY, USA : Association for Computing Machinery, Aug. 2023.</a:t>
            </a:r>
          </a:p>
          <a:p>
            <a:pPr marL="0" lvl="0" indent="0" algn="just">
              <a:buNone/>
            </a:pPr>
            <a:r>
              <a:rPr lang="en-US" sz="3300" dirty="0">
                <a:latin typeface="Times New Roman" panose="02020603050405020304" pitchFamily="18" charset="0"/>
                <a:cs typeface="Times New Roman" panose="02020603050405020304" pitchFamily="18" charset="0"/>
              </a:rPr>
              <a:t>[9]. P. Barnard, N. Marchetti, and L. A. DaSilva, “Robust network intrusion detection through explainable artificial intelligence (XAI),” </a:t>
            </a:r>
            <a:r>
              <a:rPr lang="en-US" sz="3300" i="1" dirty="0">
                <a:latin typeface="Times New Roman" panose="02020603050405020304" pitchFamily="18" charset="0"/>
                <a:cs typeface="Times New Roman" panose="02020603050405020304" pitchFamily="18" charset="0"/>
              </a:rPr>
              <a:t>IEEE </a:t>
            </a:r>
            <a:r>
              <a:rPr lang="en-US" sz="3300" i="1" dirty="0" err="1">
                <a:latin typeface="Times New Roman" panose="02020603050405020304" pitchFamily="18" charset="0"/>
                <a:cs typeface="Times New Roman" panose="02020603050405020304" pitchFamily="18" charset="0"/>
              </a:rPr>
              <a:t>Netw</a:t>
            </a:r>
            <a:r>
              <a:rPr lang="en-US" sz="3300" i="1" dirty="0">
                <a:latin typeface="Times New Roman" panose="02020603050405020304" pitchFamily="18" charset="0"/>
                <a:cs typeface="Times New Roman" panose="02020603050405020304" pitchFamily="18" charset="0"/>
              </a:rPr>
              <a:t>. Lett.</a:t>
            </a:r>
            <a:r>
              <a:rPr lang="en-US" sz="3300" dirty="0">
                <a:latin typeface="Times New Roman" panose="02020603050405020304" pitchFamily="18" charset="0"/>
                <a:cs typeface="Times New Roman" panose="02020603050405020304" pitchFamily="18" charset="0"/>
              </a:rPr>
              <a:t>, vol. 4, no. 3, pp. 167–171, Sep. 2022.</a:t>
            </a:r>
          </a:p>
          <a:p>
            <a:pPr marL="0" lvl="0" indent="0" algn="just">
              <a:buNone/>
            </a:pPr>
            <a:r>
              <a:rPr lang="en-US" sz="3300" dirty="0">
                <a:latin typeface="Times New Roman" panose="02020603050405020304" pitchFamily="18" charset="0"/>
                <a:cs typeface="Times New Roman" panose="02020603050405020304" pitchFamily="18" charset="0"/>
              </a:rPr>
              <a:t>[10]. B. Sharma, L. Sharma, C. Lal, and S. Roy, “Explainable artificial intelligence for intrusion detection in IoT networks: A deep learning based approach,” </a:t>
            </a:r>
            <a:r>
              <a:rPr lang="en-US" sz="3300" i="1" dirty="0">
                <a:latin typeface="Times New Roman" panose="02020603050405020304" pitchFamily="18" charset="0"/>
                <a:cs typeface="Times New Roman" panose="02020603050405020304" pitchFamily="18" charset="0"/>
              </a:rPr>
              <a:t>Exp. Syst. Appl.</a:t>
            </a:r>
            <a:r>
              <a:rPr lang="en-US" sz="3300" dirty="0">
                <a:latin typeface="Times New Roman" panose="02020603050405020304" pitchFamily="18" charset="0"/>
                <a:cs typeface="Times New Roman" panose="02020603050405020304" pitchFamily="18" charset="0"/>
              </a:rPr>
              <a:t>, vol. 238, Mar. 2024</a:t>
            </a:r>
          </a:p>
          <a:p>
            <a:pPr marL="0" lvl="0" indent="0" algn="just">
              <a:buNone/>
            </a:pPr>
            <a:endParaRPr lang="en-US" dirty="0">
              <a:latin typeface="Times New Roman" panose="02020603050405020304" pitchFamily="18" charset="0"/>
              <a:cs typeface="Times New Roman" panose="02020603050405020304" pitchFamily="18" charset="0"/>
            </a:endParaRPr>
          </a:p>
          <a:p>
            <a:pPr marL="0" lvl="0" indent="0" algn="just">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16</a:t>
            </a:fld>
            <a:endParaRPr lang="en-IN"/>
          </a:p>
        </p:txBody>
      </p:sp>
    </p:spTree>
    <p:extLst>
      <p:ext uri="{BB962C8B-B14F-4D97-AF65-F5344CB8AC3E}">
        <p14:creationId xmlns:p14="http://schemas.microsoft.com/office/powerpoint/2010/main" val="21827340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B1DA6-8E0E-63BA-27CB-D3E1BB6AAEDC}"/>
              </a:ext>
            </a:extLst>
          </p:cNvPr>
          <p:cNvSpPr>
            <a:spLocks noGrp="1"/>
          </p:cNvSpPr>
          <p:nvPr>
            <p:ph type="title"/>
          </p:nvPr>
        </p:nvSpPr>
        <p:spPr>
          <a:xfrm>
            <a:off x="838200" y="136525"/>
            <a:ext cx="10515600" cy="927165"/>
          </a:xfrm>
        </p:spPr>
        <p:txBody>
          <a:bodyPr/>
          <a:lstStyle/>
          <a:p>
            <a:pPr algn="just"/>
            <a:r>
              <a:rPr lang="en-US" dirty="0"/>
              <a:t>                            </a:t>
            </a:r>
            <a:r>
              <a:rPr lang="en-US" sz="3600" b="1" dirty="0">
                <a:latin typeface="Times New Roman" panose="02020603050405020304" pitchFamily="18" charset="0"/>
                <a:cs typeface="Times New Roman" panose="02020603050405020304" pitchFamily="18" charset="0"/>
              </a:rPr>
              <a:t>REFERENCES</a:t>
            </a:r>
            <a:r>
              <a:rPr lang="en-US" dirty="0"/>
              <a:t> </a:t>
            </a:r>
          </a:p>
        </p:txBody>
      </p:sp>
      <p:sp>
        <p:nvSpPr>
          <p:cNvPr id="3" name="Content Placeholder 2">
            <a:extLst>
              <a:ext uri="{FF2B5EF4-FFF2-40B4-BE49-F238E27FC236}">
                <a16:creationId xmlns:a16="http://schemas.microsoft.com/office/drawing/2014/main" id="{3BF29BFF-AE17-9BC4-1F81-CAD69F746CAC}"/>
              </a:ext>
            </a:extLst>
          </p:cNvPr>
          <p:cNvSpPr>
            <a:spLocks noGrp="1"/>
          </p:cNvSpPr>
          <p:nvPr>
            <p:ph idx="1"/>
          </p:nvPr>
        </p:nvSpPr>
        <p:spPr>
          <a:xfrm>
            <a:off x="205274" y="811764"/>
            <a:ext cx="11784564" cy="5544586"/>
          </a:xfrm>
        </p:spPr>
        <p:txBody>
          <a:bodyPr>
            <a:noAutofit/>
          </a:bodyPr>
          <a:lstStyle/>
          <a:p>
            <a:pPr marL="0" indent="0" algn="just">
              <a:buNone/>
            </a:pPr>
            <a:r>
              <a:rPr lang="en-US" dirty="0">
                <a:latin typeface="Times New Roman" panose="02020603050405020304" pitchFamily="18" charset="0"/>
                <a:cs typeface="Times New Roman" panose="02020603050405020304" pitchFamily="18" charset="0"/>
              </a:rPr>
              <a:t>[11]. S. Neupane, J. Ables, W. Anderson, S. Mittal, S. Rahimi, I. </a:t>
            </a:r>
            <a:r>
              <a:rPr lang="en-US" dirty="0" err="1">
                <a:latin typeface="Times New Roman" panose="02020603050405020304" pitchFamily="18" charset="0"/>
                <a:cs typeface="Times New Roman" panose="02020603050405020304" pitchFamily="18" charset="0"/>
              </a:rPr>
              <a:t>Banicescu</a:t>
            </a:r>
            <a:r>
              <a:rPr lang="en-US" dirty="0">
                <a:latin typeface="Times New Roman" panose="02020603050405020304" pitchFamily="18" charset="0"/>
                <a:cs typeface="Times New Roman" panose="02020603050405020304" pitchFamily="18" charset="0"/>
              </a:rPr>
              <a:t>, and M. Seale, “Explainable intrusion detection systems (X-IDS): A survey of current methods, challenges, and opportunities,” </a:t>
            </a:r>
            <a:r>
              <a:rPr lang="en-US" i="1" dirty="0">
                <a:latin typeface="Times New Roman" panose="02020603050405020304" pitchFamily="18" charset="0"/>
                <a:cs typeface="Times New Roman" panose="02020603050405020304" pitchFamily="18" charset="0"/>
              </a:rPr>
              <a:t>IEEE Access</a:t>
            </a:r>
            <a:r>
              <a:rPr lang="en-US" dirty="0">
                <a:latin typeface="Times New Roman" panose="02020603050405020304" pitchFamily="18" charset="0"/>
                <a:cs typeface="Times New Roman" panose="02020603050405020304" pitchFamily="18" charset="0"/>
              </a:rPr>
              <a:t>, vol. 10, 2022.</a:t>
            </a:r>
          </a:p>
          <a:p>
            <a:pPr marL="0" indent="0" algn="just">
              <a:buNone/>
            </a:pPr>
            <a:r>
              <a:rPr lang="en-US" dirty="0">
                <a:latin typeface="Times New Roman" panose="02020603050405020304" pitchFamily="18" charset="0"/>
                <a:cs typeface="Times New Roman" panose="02020603050405020304" pitchFamily="18" charset="0"/>
              </a:rPr>
              <a:t>[12]. M. T. Ribeiro, S. Singh, and C. </a:t>
            </a:r>
            <a:r>
              <a:rPr lang="en-US" dirty="0" err="1">
                <a:latin typeface="Times New Roman" panose="02020603050405020304" pitchFamily="18" charset="0"/>
                <a:cs typeface="Times New Roman" panose="02020603050405020304" pitchFamily="18" charset="0"/>
              </a:rPr>
              <a:t>Guestrin</a:t>
            </a:r>
            <a:r>
              <a:rPr lang="en-US" dirty="0">
                <a:latin typeface="Times New Roman" panose="02020603050405020304" pitchFamily="18" charset="0"/>
                <a:cs typeface="Times New Roman" panose="02020603050405020304" pitchFamily="18" charset="0"/>
              </a:rPr>
              <a:t>, “Anchors: High-precision model-agnostic explanations,” in </a:t>
            </a:r>
            <a:r>
              <a:rPr lang="en-US" i="1" dirty="0">
                <a:latin typeface="Times New Roman" panose="02020603050405020304" pitchFamily="18" charset="0"/>
                <a:cs typeface="Times New Roman" panose="02020603050405020304" pitchFamily="18" charset="0"/>
              </a:rPr>
              <a:t>Proc. AAAI Conf. </a:t>
            </a:r>
            <a:r>
              <a:rPr lang="en-US" i="1" dirty="0" err="1">
                <a:latin typeface="Times New Roman" panose="02020603050405020304" pitchFamily="18" charset="0"/>
                <a:cs typeface="Times New Roman" panose="02020603050405020304" pitchFamily="18" charset="0"/>
              </a:rPr>
              <a:t>Artif</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Intell</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vol. 32, no. 1, 2018.</a:t>
            </a:r>
          </a:p>
          <a:p>
            <a:pPr marL="0" indent="0" algn="just">
              <a:buNone/>
            </a:pPr>
            <a:r>
              <a:rPr lang="en-US" dirty="0">
                <a:latin typeface="Times New Roman" panose="02020603050405020304" pitchFamily="18" charset="0"/>
                <a:cs typeface="Times New Roman" panose="02020603050405020304" pitchFamily="18" charset="0"/>
              </a:rPr>
              <a:t>[13]. D. W. Apley and J. Zhu, “Visualizing the effects of predictor variables in black box supervised learning models,” </a:t>
            </a:r>
            <a:r>
              <a:rPr lang="en-US" i="1" dirty="0">
                <a:latin typeface="Times New Roman" panose="02020603050405020304" pitchFamily="18" charset="0"/>
                <a:cs typeface="Times New Roman" panose="02020603050405020304" pitchFamily="18" charset="0"/>
              </a:rPr>
              <a:t>J. Roy. Stat. Soc. Ser. B, Stat. </a:t>
            </a:r>
            <a:r>
              <a:rPr lang="en-US" i="1" dirty="0" err="1">
                <a:latin typeface="Times New Roman" panose="02020603050405020304" pitchFamily="18" charset="0"/>
                <a:cs typeface="Times New Roman" panose="02020603050405020304" pitchFamily="18" charset="0"/>
              </a:rPr>
              <a:t>Methodol</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vol. 82, no. 4, pp. 1059–1086, 2020.</a:t>
            </a:r>
          </a:p>
          <a:p>
            <a:pPr marL="0" indent="0" algn="just">
              <a:buNone/>
            </a:pPr>
            <a:r>
              <a:rPr lang="en-US" dirty="0">
                <a:latin typeface="Times New Roman" panose="02020603050405020304" pitchFamily="18" charset="0"/>
                <a:cs typeface="Times New Roman" panose="02020603050405020304" pitchFamily="18" charset="0"/>
              </a:rPr>
              <a:t>[14]. S. Lundberg and S.-I. Lee, “A unified approach to interpreting model predictions,” 2017.</a:t>
            </a:r>
          </a:p>
          <a:p>
            <a:pPr marL="0" indent="0" algn="just">
              <a:buNone/>
            </a:pPr>
            <a:r>
              <a:rPr lang="en-US" dirty="0">
                <a:latin typeface="Times New Roman" panose="02020603050405020304" pitchFamily="18" charset="0"/>
                <a:cs typeface="Times New Roman" panose="02020603050405020304" pitchFamily="18" charset="0"/>
              </a:rPr>
              <a:t>[15]. M. T. Ribeiro, S. Singh, and C. </a:t>
            </a:r>
            <a:r>
              <a:rPr lang="en-US" dirty="0" err="1">
                <a:latin typeface="Times New Roman" panose="02020603050405020304" pitchFamily="18" charset="0"/>
                <a:cs typeface="Times New Roman" panose="02020603050405020304" pitchFamily="18" charset="0"/>
              </a:rPr>
              <a:t>Guestrin</a:t>
            </a:r>
            <a:r>
              <a:rPr lang="en-US" dirty="0">
                <a:latin typeface="Times New Roman" panose="02020603050405020304" pitchFamily="18" charset="0"/>
                <a:cs typeface="Times New Roman" panose="02020603050405020304" pitchFamily="18" charset="0"/>
              </a:rPr>
              <a:t>, “Why should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trust you?’ Explaining the predictions of any classifier,” in </a:t>
            </a:r>
            <a:r>
              <a:rPr lang="en-US" i="1" dirty="0">
                <a:latin typeface="Times New Roman" panose="02020603050405020304" pitchFamily="18" charset="0"/>
                <a:cs typeface="Times New Roman" panose="02020603050405020304" pitchFamily="18" charset="0"/>
              </a:rPr>
              <a:t>Proc. 22nd ACM SIGKDD Int. Conf. </a:t>
            </a:r>
            <a:r>
              <a:rPr lang="en-US" i="1" dirty="0" err="1">
                <a:latin typeface="Times New Roman" panose="02020603050405020304" pitchFamily="18" charset="0"/>
                <a:cs typeface="Times New Roman" panose="02020603050405020304" pitchFamily="18" charset="0"/>
              </a:rPr>
              <a:t>Knowl</a:t>
            </a:r>
            <a:r>
              <a:rPr lang="en-US" i="1" dirty="0">
                <a:latin typeface="Times New Roman" panose="02020603050405020304" pitchFamily="18" charset="0"/>
                <a:cs typeface="Times New Roman" panose="02020603050405020304" pitchFamily="18" charset="0"/>
              </a:rPr>
              <a:t>. Discovery Data Mining</a:t>
            </a:r>
            <a:r>
              <a:rPr lang="en-US" dirty="0">
                <a:latin typeface="Times New Roman" panose="02020603050405020304" pitchFamily="18" charset="0"/>
                <a:cs typeface="Times New Roman" panose="02020603050405020304" pitchFamily="18" charset="0"/>
              </a:rPr>
              <a:t>, 2016.</a:t>
            </a:r>
          </a:p>
        </p:txBody>
      </p:sp>
      <p:sp>
        <p:nvSpPr>
          <p:cNvPr id="4" name="Date Placeholder 3">
            <a:extLst>
              <a:ext uri="{FF2B5EF4-FFF2-40B4-BE49-F238E27FC236}">
                <a16:creationId xmlns:a16="http://schemas.microsoft.com/office/drawing/2014/main" id="{E4477265-6DAF-CEDE-8DCE-B35E433CC71C}"/>
              </a:ext>
            </a:extLst>
          </p:cNvPr>
          <p:cNvSpPr>
            <a:spLocks noGrp="1"/>
          </p:cNvSpPr>
          <p:nvPr>
            <p:ph type="dt" sz="half" idx="10"/>
          </p:nvPr>
        </p:nvSpPr>
        <p:spPr/>
        <p:txBody>
          <a:bodyPr/>
          <a:lstStyle/>
          <a:p>
            <a:fld id="{784BDB05-E2D4-4D29-8882-DE25842599A2}" type="datetime1">
              <a:rPr lang="en-IN" smtClean="0"/>
              <a:pPr/>
              <a:t>31-01-2026</a:t>
            </a:fld>
            <a:endParaRPr lang="en-IN"/>
          </a:p>
        </p:txBody>
      </p:sp>
      <p:sp>
        <p:nvSpPr>
          <p:cNvPr id="5" name="Slide Number Placeholder 4">
            <a:extLst>
              <a:ext uri="{FF2B5EF4-FFF2-40B4-BE49-F238E27FC236}">
                <a16:creationId xmlns:a16="http://schemas.microsoft.com/office/drawing/2014/main" id="{D14788D8-266E-7EC7-84A0-ADFD7A5AFC21}"/>
              </a:ext>
            </a:extLst>
          </p:cNvPr>
          <p:cNvSpPr>
            <a:spLocks noGrp="1"/>
          </p:cNvSpPr>
          <p:nvPr>
            <p:ph type="sldNum" sz="quarter" idx="12"/>
          </p:nvPr>
        </p:nvSpPr>
        <p:spPr/>
        <p:txBody>
          <a:bodyPr/>
          <a:lstStyle/>
          <a:p>
            <a:fld id="{A0183BA4-7B10-4BE3-A0B2-A48721054ED6}" type="slidenum">
              <a:rPr lang="en-IN" smtClean="0"/>
              <a:pPr/>
              <a:t>17</a:t>
            </a:fld>
            <a:endParaRPr lang="en-IN"/>
          </a:p>
        </p:txBody>
      </p:sp>
    </p:spTree>
    <p:extLst>
      <p:ext uri="{BB962C8B-B14F-4D97-AF65-F5344CB8AC3E}">
        <p14:creationId xmlns:p14="http://schemas.microsoft.com/office/powerpoint/2010/main" val="23424746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normAutofit/>
          </a:bodyPr>
          <a:lstStyle/>
          <a:p>
            <a:pPr algn="ctr"/>
            <a:r>
              <a:rPr lang="en-IN" sz="3600" b="1" dirty="0">
                <a:latin typeface="Times New Roman" panose="02020603050405020304" pitchFamily="18" charset="0"/>
                <a:cs typeface="Times New Roman" panose="02020603050405020304" pitchFamily="18" charset="0"/>
              </a:rPr>
              <a:t>QUERIES ??</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18</a:t>
            </a:fld>
            <a:endParaRPr lang="en-IN"/>
          </a:p>
        </p:txBody>
      </p:sp>
    </p:spTree>
    <p:extLst>
      <p:ext uri="{BB962C8B-B14F-4D97-AF65-F5344CB8AC3E}">
        <p14:creationId xmlns:p14="http://schemas.microsoft.com/office/powerpoint/2010/main" val="11632734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E76D2E-3A19-4D6C-8ADD-F94385C56703}"/>
              </a:ext>
            </a:extLst>
          </p:cNvPr>
          <p:cNvSpPr>
            <a:spLocks noGrp="1"/>
          </p:cNvSpPr>
          <p:nvPr>
            <p:ph type="title"/>
          </p:nvPr>
        </p:nvSpPr>
        <p:spPr>
          <a:xfrm>
            <a:off x="0" y="2827175"/>
            <a:ext cx="12192000" cy="1203649"/>
          </a:xfrm>
        </p:spPr>
        <p:txBody>
          <a:bodyPr/>
          <a:lstStyle/>
          <a:p>
            <a:pPr algn="ctr"/>
            <a:r>
              <a:rPr lang="en-IN" sz="3600" b="1" dirty="0">
                <a:latin typeface="Times New Roman" panose="02020603050405020304" pitchFamily="18" charset="0"/>
                <a:cs typeface="Times New Roman" panose="02020603050405020304" pitchFamily="18" charset="0"/>
              </a:rPr>
              <a:t>THANK YOU</a:t>
            </a:r>
            <a:endParaRPr lang="en-IN"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26DB1357-346F-43D6-B767-9719C805C8B2}"/>
              </a:ext>
            </a:extLst>
          </p:cNvPr>
          <p:cNvSpPr>
            <a:spLocks noGrp="1"/>
          </p:cNvSpPr>
          <p:nvPr>
            <p:ph type="dt" sz="half" idx="10"/>
          </p:nvPr>
        </p:nvSpPr>
        <p:spPr/>
        <p:txBody>
          <a:bodyPr/>
          <a:lstStyle/>
          <a:p>
            <a:fld id="{D121BCBC-AF21-480F-8C1A-83C58722766A}" type="datetime1">
              <a:rPr lang="en-IN" smtClean="0"/>
              <a:pPr/>
              <a:t>31-01-2026</a:t>
            </a:fld>
            <a:endParaRPr lang="en-IN"/>
          </a:p>
        </p:txBody>
      </p:sp>
      <p:sp>
        <p:nvSpPr>
          <p:cNvPr id="5" name="Slide Number Placeholder 4">
            <a:extLst>
              <a:ext uri="{FF2B5EF4-FFF2-40B4-BE49-F238E27FC236}">
                <a16:creationId xmlns:a16="http://schemas.microsoft.com/office/drawing/2014/main" id="{11C5ADEE-5A48-4B7F-AF49-C8B9CBBC3FC9}"/>
              </a:ext>
            </a:extLst>
          </p:cNvPr>
          <p:cNvSpPr>
            <a:spLocks noGrp="1"/>
          </p:cNvSpPr>
          <p:nvPr>
            <p:ph type="sldNum" sz="quarter" idx="12"/>
          </p:nvPr>
        </p:nvSpPr>
        <p:spPr/>
        <p:txBody>
          <a:bodyPr/>
          <a:lstStyle/>
          <a:p>
            <a:fld id="{A0183BA4-7B10-4BE3-A0B2-A48721054ED6}" type="slidenum">
              <a:rPr lang="en-IN" smtClean="0"/>
              <a:pPr/>
              <a:t>19</a:t>
            </a:fld>
            <a:endParaRPr lang="en-IN"/>
          </a:p>
        </p:txBody>
      </p:sp>
    </p:spTree>
    <p:extLst>
      <p:ext uri="{BB962C8B-B14F-4D97-AF65-F5344CB8AC3E}">
        <p14:creationId xmlns:p14="http://schemas.microsoft.com/office/powerpoint/2010/main" val="11344110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TotalTime>
  <Words>1936</Words>
  <Application>Microsoft Office PowerPoint</Application>
  <PresentationFormat>Widescreen</PresentationFormat>
  <Paragraphs>193</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Times New Roman</vt:lpstr>
      <vt:lpstr>Office Theme</vt:lpstr>
      <vt:lpstr>PowerPoint Presentation</vt:lpstr>
      <vt:lpstr>OUTLINE </vt:lpstr>
      <vt:lpstr>ABSTRACT</vt:lpstr>
      <vt:lpstr>INTRODUCTION</vt:lpstr>
      <vt:lpstr>INTRODUCTION</vt:lpstr>
      <vt:lpstr>                        LITERATURE SURVEY</vt:lpstr>
      <vt:lpstr>EXISTING SYSTEM</vt:lpstr>
      <vt:lpstr>PROPOSED SYSTEM</vt:lpstr>
      <vt:lpstr>FLOW DIAGRAM</vt:lpstr>
      <vt:lpstr>ALGORITHMS </vt:lpstr>
      <vt:lpstr>TECHNIQUES</vt:lpstr>
      <vt:lpstr>CODE(30% IMPLEMENTATION)</vt:lpstr>
      <vt:lpstr>PowerPoint Presentation</vt:lpstr>
      <vt:lpstr>EXPECTED OUTCOME</vt:lpstr>
      <vt:lpstr>REFERENCES </vt:lpstr>
      <vt:lpstr>REFERENCES </vt:lpstr>
      <vt:lpstr>                            REFERENCES </vt:lpstr>
      <vt:lpstr>QUERIES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Sanjana Yenuganti</dc:creator>
  <cp:lastModifiedBy>Sanjana Yenuganti</cp:lastModifiedBy>
  <cp:revision>3</cp:revision>
  <dcterms:modified xsi:type="dcterms:W3CDTF">2026-01-31T05:28:48Z</dcterms:modified>
</cp:coreProperties>
</file>